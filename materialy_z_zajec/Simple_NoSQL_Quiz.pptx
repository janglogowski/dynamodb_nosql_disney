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a:t>
            </a:r>
          </a:p>
        </p:txBody>
      </p:sp>
      <p:sp>
        <p:nvSpPr>
          <p:cNvPr id="3" name="Content Placeholder 2"/>
          <p:cNvSpPr>
            <a:spLocks noGrp="1"/>
          </p:cNvSpPr>
          <p:nvPr>
            <p:ph idx="1"/>
          </p:nvPr>
        </p:nvSpPr>
        <p:spPr/>
        <p:txBody>
          <a:bodyPr/>
          <a:lstStyle/>
          <a:p>
            <a:pPr>
              <a:defRPr sz="1600">
                <a:solidFill>
                  <a:srgbClr val="232F3E"/>
                </a:solidFill>
              </a:defRPr>
            </a:pPr>
            <a:r>
              <a:t>What does NoSQL stand for?</a:t>
            </a:r>
          </a:p>
          <a:p>
            <a:pPr>
              <a:defRPr sz="1600">
                <a:solidFill>
                  <a:srgbClr val="232F3E"/>
                </a:solidFill>
              </a:defRPr>
            </a:pPr>
            <a:r>
              <a:t>A. No Structured Query Language</a:t>
            </a:r>
          </a:p>
          <a:p>
            <a:pPr>
              <a:defRPr sz="1600">
                <a:solidFill>
                  <a:srgbClr val="232F3E"/>
                </a:solidFill>
              </a:defRPr>
            </a:pPr>
            <a:r>
              <a:t>B. Not Only SQL</a:t>
            </a:r>
          </a:p>
          <a:p>
            <a:pPr>
              <a:defRPr sz="1600">
                <a:solidFill>
                  <a:srgbClr val="232F3E"/>
                </a:solidFill>
              </a:defRPr>
            </a:pPr>
            <a:r>
              <a:t>C. New Object SQL</a:t>
            </a:r>
          </a:p>
          <a:p>
            <a:pPr>
              <a:defRPr sz="1600">
                <a:solidFill>
                  <a:srgbClr val="232F3E"/>
                </a:solidFill>
              </a:defRPr>
            </a:pPr>
            <a:r>
              <a:t>D. Network Oriented 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NoSQL stands for Not Only SQL. It describes databases that do not rely strictly on SQL queries. These systems support flexible schemas. They are designed for distributed environments. The name emphasizes flexibility rather than rejection of SQL.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a:t>
            </a:r>
          </a:p>
        </p:txBody>
      </p:sp>
      <p:sp>
        <p:nvSpPr>
          <p:cNvPr id="3" name="Content Placeholder 2"/>
          <p:cNvSpPr>
            <a:spLocks noGrp="1"/>
          </p:cNvSpPr>
          <p:nvPr>
            <p:ph idx="1"/>
          </p:nvPr>
        </p:nvSpPr>
        <p:spPr/>
        <p:txBody>
          <a:bodyPr/>
          <a:lstStyle/>
          <a:p>
            <a:pPr>
              <a:defRPr sz="1600">
                <a:solidFill>
                  <a:srgbClr val="232F3E"/>
                </a:solidFill>
              </a:defRPr>
            </a:pPr>
            <a:r>
              <a:t>Which AWS service is a NoSQL database?</a:t>
            </a:r>
          </a:p>
          <a:p>
            <a:pPr>
              <a:defRPr sz="1600">
                <a:solidFill>
                  <a:srgbClr val="232F3E"/>
                </a:solidFill>
              </a:defRPr>
            </a:pPr>
            <a:r>
              <a:t>A. Amazon RDS</a:t>
            </a:r>
          </a:p>
          <a:p>
            <a:pPr>
              <a:defRPr sz="1600">
                <a:solidFill>
                  <a:srgbClr val="232F3E"/>
                </a:solidFill>
              </a:defRPr>
            </a:pPr>
            <a:r>
              <a:t>B. Amazon DynamoDB</a:t>
            </a:r>
          </a:p>
          <a:p>
            <a:pPr>
              <a:defRPr sz="1600">
                <a:solidFill>
                  <a:srgbClr val="232F3E"/>
                </a:solidFill>
              </a:defRPr>
            </a:pPr>
            <a:r>
              <a:t>C. Amazon Redshift</a:t>
            </a:r>
          </a:p>
          <a:p>
            <a:pPr>
              <a:defRPr sz="1600">
                <a:solidFill>
                  <a:srgbClr val="232F3E"/>
                </a:solidFill>
              </a:defRPr>
            </a:pPr>
            <a:r>
              <a:t>D. Amazon Aurora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DynamoDB is AWS’s fully managed NoSQL database service. It does not require server management. It automatically scales based on workload. It is optimized for key-based access. The other services are relational or analytical databases.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a:t>
            </a:r>
          </a:p>
        </p:txBody>
      </p:sp>
      <p:sp>
        <p:nvSpPr>
          <p:cNvPr id="3" name="Content Placeholder 2"/>
          <p:cNvSpPr>
            <a:spLocks noGrp="1"/>
          </p:cNvSpPr>
          <p:nvPr>
            <p:ph idx="1"/>
          </p:nvPr>
        </p:nvSpPr>
        <p:spPr/>
        <p:txBody>
          <a:bodyPr/>
          <a:lstStyle/>
          <a:p>
            <a:pPr>
              <a:defRPr sz="1600">
                <a:solidFill>
                  <a:srgbClr val="232F3E"/>
                </a:solidFill>
              </a:defRPr>
            </a:pPr>
            <a:r>
              <a:t>What type of database is DynamoDB?</a:t>
            </a:r>
          </a:p>
          <a:p>
            <a:pPr>
              <a:defRPr sz="1600">
                <a:solidFill>
                  <a:srgbClr val="232F3E"/>
                </a:solidFill>
              </a:defRPr>
            </a:pPr>
            <a:r>
              <a:t>A. Relational</a:t>
            </a:r>
          </a:p>
          <a:p>
            <a:pPr>
              <a:defRPr sz="1600">
                <a:solidFill>
                  <a:srgbClr val="232F3E"/>
                </a:solidFill>
              </a:defRPr>
            </a:pPr>
            <a:r>
              <a:t>B. Graph</a:t>
            </a:r>
          </a:p>
          <a:p>
            <a:pPr>
              <a:defRPr sz="1600">
                <a:solidFill>
                  <a:srgbClr val="232F3E"/>
                </a:solidFill>
              </a:defRPr>
            </a:pPr>
            <a:r>
              <a:t>C. Key-value</a:t>
            </a:r>
          </a:p>
          <a:p>
            <a:pPr>
              <a:defRPr sz="1600">
                <a:solidFill>
                  <a:srgbClr val="232F3E"/>
                </a:solidFill>
              </a:defRPr>
            </a:pPr>
            <a:r>
              <a:t>D. Time-series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is primarily a key-value database. Data is accessed using a primary key. There are no joins between tables. This allows very fast lookups. The design supports high throughput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a:t>
            </a:r>
          </a:p>
        </p:txBody>
      </p:sp>
      <p:sp>
        <p:nvSpPr>
          <p:cNvPr id="3" name="Content Placeholder 2"/>
          <p:cNvSpPr>
            <a:spLocks noGrp="1"/>
          </p:cNvSpPr>
          <p:nvPr>
            <p:ph idx="1"/>
          </p:nvPr>
        </p:nvSpPr>
        <p:spPr/>
        <p:txBody>
          <a:bodyPr/>
          <a:lstStyle/>
          <a:p>
            <a:pPr>
              <a:defRPr sz="1600">
                <a:solidFill>
                  <a:srgbClr val="232F3E"/>
                </a:solidFill>
              </a:defRPr>
            </a:pPr>
            <a:r>
              <a:t>Which key uniquely identifies an item in DynamoDB?</a:t>
            </a:r>
          </a:p>
          <a:p>
            <a:pPr>
              <a:defRPr sz="1600">
                <a:solidFill>
                  <a:srgbClr val="232F3E"/>
                </a:solidFill>
              </a:defRPr>
            </a:pPr>
            <a:r>
              <a:t>A. Table name</a:t>
            </a:r>
          </a:p>
          <a:p>
            <a:pPr>
              <a:defRPr sz="1600">
                <a:solidFill>
                  <a:srgbClr val="232F3E"/>
                </a:solidFill>
              </a:defRPr>
            </a:pPr>
            <a:r>
              <a:t>B. Attribute</a:t>
            </a:r>
          </a:p>
          <a:p>
            <a:pPr>
              <a:defRPr sz="1600">
                <a:solidFill>
                  <a:srgbClr val="232F3E"/>
                </a:solidFill>
              </a:defRPr>
            </a:pPr>
            <a:r>
              <a:t>C. Primary key</a:t>
            </a:r>
          </a:p>
          <a:p>
            <a:pPr>
              <a:defRPr sz="1600">
                <a:solidFill>
                  <a:srgbClr val="232F3E"/>
                </a:solidFill>
              </a:defRPr>
            </a:pPr>
            <a:r>
              <a:t>D. Index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The primary key uniquely identifies each item in a table. It can be a simple key or a composite key. DynamoDB enforces uniqueness using this key. Items cannot exist without it. This guarantees predictable access patterns.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5</a:t>
            </a:r>
          </a:p>
        </p:txBody>
      </p:sp>
      <p:sp>
        <p:nvSpPr>
          <p:cNvPr id="3" name="Content Placeholder 2"/>
          <p:cNvSpPr>
            <a:spLocks noGrp="1"/>
          </p:cNvSpPr>
          <p:nvPr>
            <p:ph idx="1"/>
          </p:nvPr>
        </p:nvSpPr>
        <p:spPr/>
        <p:txBody>
          <a:bodyPr/>
          <a:lstStyle/>
          <a:p>
            <a:pPr>
              <a:defRPr sz="1600">
                <a:solidFill>
                  <a:srgbClr val="232F3E"/>
                </a:solidFill>
              </a:defRPr>
            </a:pPr>
            <a:r>
              <a:t>Which key is mandatory in every DynamoDB table?</a:t>
            </a:r>
          </a:p>
          <a:p>
            <a:pPr>
              <a:defRPr sz="1600">
                <a:solidFill>
                  <a:srgbClr val="232F3E"/>
                </a:solidFill>
              </a:defRPr>
            </a:pPr>
            <a:r>
              <a:t>A. Sort key</a:t>
            </a:r>
          </a:p>
          <a:p>
            <a:pPr>
              <a:defRPr sz="1600">
                <a:solidFill>
                  <a:srgbClr val="232F3E"/>
                </a:solidFill>
              </a:defRPr>
            </a:pPr>
            <a:r>
              <a:t>B. Partition key</a:t>
            </a:r>
          </a:p>
          <a:p>
            <a:pPr>
              <a:defRPr sz="1600">
                <a:solidFill>
                  <a:srgbClr val="232F3E"/>
                </a:solidFill>
              </a:defRPr>
            </a:pPr>
            <a:r>
              <a:t>C. Secondary key</a:t>
            </a:r>
          </a:p>
          <a:p>
            <a:pPr>
              <a:defRPr sz="1600">
                <a:solidFill>
                  <a:srgbClr val="232F3E"/>
                </a:solidFill>
              </a:defRPr>
            </a:pPr>
            <a:r>
              <a:t>D. Foreign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5</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Every DynamoDB table must define a partition key. This key determines where data is stored internally. DynamoDB hashes the partition key to distribute data. A sort key is optional. Without a partition key, a table cannot be created.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6</a:t>
            </a:r>
          </a:p>
        </p:txBody>
      </p:sp>
      <p:sp>
        <p:nvSpPr>
          <p:cNvPr id="3" name="Content Placeholder 2"/>
          <p:cNvSpPr>
            <a:spLocks noGrp="1"/>
          </p:cNvSpPr>
          <p:nvPr>
            <p:ph idx="1"/>
          </p:nvPr>
        </p:nvSpPr>
        <p:spPr/>
        <p:txBody>
          <a:bodyPr/>
          <a:lstStyle/>
          <a:p>
            <a:pPr>
              <a:defRPr sz="1600">
                <a:solidFill>
                  <a:srgbClr val="232F3E"/>
                </a:solidFill>
              </a:defRPr>
            </a:pPr>
            <a:r>
              <a:t>What does a partition key do?</a:t>
            </a:r>
          </a:p>
          <a:p>
            <a:pPr>
              <a:defRPr sz="1600">
                <a:solidFill>
                  <a:srgbClr val="232F3E"/>
                </a:solidFill>
              </a:defRPr>
            </a:pPr>
            <a:r>
              <a:t>A. Encrypts data</a:t>
            </a:r>
          </a:p>
          <a:p>
            <a:pPr>
              <a:defRPr sz="1600">
                <a:solidFill>
                  <a:srgbClr val="232F3E"/>
                </a:solidFill>
              </a:defRPr>
            </a:pPr>
            <a:r>
              <a:t>B. Sorts data</a:t>
            </a:r>
          </a:p>
          <a:p>
            <a:pPr>
              <a:defRPr sz="1600">
                <a:solidFill>
                  <a:srgbClr val="232F3E"/>
                </a:solidFill>
              </a:defRPr>
            </a:pPr>
            <a:r>
              <a:t>C. Distributes data across storage</a:t>
            </a:r>
          </a:p>
          <a:p>
            <a:pPr>
              <a:defRPr sz="1600">
                <a:solidFill>
                  <a:srgbClr val="232F3E"/>
                </a:solidFill>
              </a:defRPr>
            </a:pPr>
            <a:r>
              <a:t>D. Deletes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6</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The partition key controls how data is distributed across nodes. DynamoDB uses it to balance workload. Good partition keys prevent hot partitions. Poor choices cause throttling. This key directly impacts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7</a:t>
            </a:r>
          </a:p>
        </p:txBody>
      </p:sp>
      <p:sp>
        <p:nvSpPr>
          <p:cNvPr id="3" name="Content Placeholder 2"/>
          <p:cNvSpPr>
            <a:spLocks noGrp="1"/>
          </p:cNvSpPr>
          <p:nvPr>
            <p:ph idx="1"/>
          </p:nvPr>
        </p:nvSpPr>
        <p:spPr/>
        <p:txBody>
          <a:bodyPr/>
          <a:lstStyle/>
          <a:p>
            <a:pPr>
              <a:defRPr sz="1600">
                <a:solidFill>
                  <a:srgbClr val="232F3E"/>
                </a:solidFill>
              </a:defRPr>
            </a:pPr>
            <a:r>
              <a:t>What is a sort key used for?</a:t>
            </a:r>
          </a:p>
          <a:p>
            <a:pPr>
              <a:defRPr sz="1600">
                <a:solidFill>
                  <a:srgbClr val="232F3E"/>
                </a:solidFill>
              </a:defRPr>
            </a:pPr>
            <a:r>
              <a:t>A. Encrypting items</a:t>
            </a:r>
          </a:p>
          <a:p>
            <a:pPr>
              <a:defRPr sz="1600">
                <a:solidFill>
                  <a:srgbClr val="232F3E"/>
                </a:solidFill>
              </a:defRPr>
            </a:pPr>
            <a:r>
              <a:t>B. Ordering items with the same partition key</a:t>
            </a:r>
          </a:p>
          <a:p>
            <a:pPr>
              <a:defRPr sz="1600">
                <a:solidFill>
                  <a:srgbClr val="232F3E"/>
                </a:solidFill>
              </a:defRPr>
            </a:pPr>
            <a:r>
              <a:t>C. Deleting records</a:t>
            </a:r>
          </a:p>
          <a:p>
            <a:pPr>
              <a:defRPr sz="1600">
                <a:solidFill>
                  <a:srgbClr val="232F3E"/>
                </a:solidFill>
              </a:defRPr>
            </a:pPr>
            <a:r>
              <a:t>D. Replicating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7</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A sort key allows multiple items to share the same partition key. It orders items within a partition. This supports one-to-many relationships. Queries can filter by sort key ranges. It adds flexibility to data modeling.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8</a:t>
            </a:r>
          </a:p>
        </p:txBody>
      </p:sp>
      <p:sp>
        <p:nvSpPr>
          <p:cNvPr id="3" name="Content Placeholder 2"/>
          <p:cNvSpPr>
            <a:spLocks noGrp="1"/>
          </p:cNvSpPr>
          <p:nvPr>
            <p:ph idx="1"/>
          </p:nvPr>
        </p:nvSpPr>
        <p:spPr/>
        <p:txBody>
          <a:bodyPr/>
          <a:lstStyle/>
          <a:p>
            <a:pPr>
              <a:defRPr sz="1600">
                <a:solidFill>
                  <a:srgbClr val="232F3E"/>
                </a:solidFill>
              </a:defRPr>
            </a:pPr>
            <a:r>
              <a:t>What happens when one partition receives too many requests?</a:t>
            </a:r>
          </a:p>
          <a:p>
            <a:pPr>
              <a:defRPr sz="1600">
                <a:solidFill>
                  <a:srgbClr val="232F3E"/>
                </a:solidFill>
              </a:defRPr>
            </a:pPr>
            <a:r>
              <a:t>A. Faster performance</a:t>
            </a:r>
          </a:p>
          <a:p>
            <a:pPr>
              <a:defRPr sz="1600">
                <a:solidFill>
                  <a:srgbClr val="232F3E"/>
                </a:solidFill>
              </a:defRPr>
            </a:pPr>
            <a:r>
              <a:t>B. Hot partition</a:t>
            </a:r>
          </a:p>
          <a:p>
            <a:pPr>
              <a:defRPr sz="1600">
                <a:solidFill>
                  <a:srgbClr val="232F3E"/>
                </a:solidFill>
              </a:defRPr>
            </a:pPr>
            <a:r>
              <a:t>C. Automatic deletion</a:t>
            </a:r>
          </a:p>
          <a:p>
            <a:pPr>
              <a:defRPr sz="1600">
                <a:solidFill>
                  <a:srgbClr val="232F3E"/>
                </a:solidFill>
              </a:defRPr>
            </a:pPr>
            <a:r>
              <a:t>D. Unlimited scaling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8</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A hot partition occurs when traffic is unevenly distributed. DynamoDB limits throughput per partition. Even high-capacity tables can throttle. This leads to performance issues. Proper key design prevents this problem.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9</a:t>
            </a:r>
          </a:p>
        </p:txBody>
      </p:sp>
      <p:sp>
        <p:nvSpPr>
          <p:cNvPr id="3" name="Content Placeholder 2"/>
          <p:cNvSpPr>
            <a:spLocks noGrp="1"/>
          </p:cNvSpPr>
          <p:nvPr>
            <p:ph idx="1"/>
          </p:nvPr>
        </p:nvSpPr>
        <p:spPr/>
        <p:txBody>
          <a:bodyPr/>
          <a:lstStyle/>
          <a:p>
            <a:pPr>
              <a:defRPr sz="1600">
                <a:solidFill>
                  <a:srgbClr val="232F3E"/>
                </a:solidFill>
              </a:defRPr>
            </a:pPr>
            <a:r>
              <a:t>What is the maximum size of a DynamoDB item?</a:t>
            </a:r>
          </a:p>
          <a:p>
            <a:pPr>
              <a:defRPr sz="1600">
                <a:solidFill>
                  <a:srgbClr val="232F3E"/>
                </a:solidFill>
              </a:defRPr>
            </a:pPr>
            <a:r>
              <a:t>A. 100 KB</a:t>
            </a:r>
          </a:p>
          <a:p>
            <a:pPr>
              <a:defRPr sz="1600">
                <a:solidFill>
                  <a:srgbClr val="232F3E"/>
                </a:solidFill>
              </a:defRPr>
            </a:pPr>
            <a:r>
              <a:t>B. 200 KB</a:t>
            </a:r>
          </a:p>
          <a:p>
            <a:pPr>
              <a:defRPr sz="1600">
                <a:solidFill>
                  <a:srgbClr val="232F3E"/>
                </a:solidFill>
              </a:defRPr>
            </a:pPr>
            <a:r>
              <a:t>C. 400 KB</a:t>
            </a:r>
          </a:p>
          <a:p>
            <a:pPr>
              <a:defRPr sz="1600">
                <a:solidFill>
                  <a:srgbClr val="232F3E"/>
                </a:solidFill>
              </a:defRPr>
            </a:pPr>
            <a:r>
              <a:t>D. 1 MB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9</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limits each item to 400 KB. This includes all attributes and values. Large objects should not be stored directly. DynamoDB is optimized for small items. S3 is better for large files.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10</a:t>
            </a:r>
          </a:p>
        </p:txBody>
      </p:sp>
      <p:sp>
        <p:nvSpPr>
          <p:cNvPr id="3" name="Content Placeholder 2"/>
          <p:cNvSpPr>
            <a:spLocks noGrp="1"/>
          </p:cNvSpPr>
          <p:nvPr>
            <p:ph idx="1"/>
          </p:nvPr>
        </p:nvSpPr>
        <p:spPr/>
        <p:txBody>
          <a:bodyPr/>
          <a:lstStyle/>
          <a:p>
            <a:pPr>
              <a:defRPr sz="1600">
                <a:solidFill>
                  <a:srgbClr val="232F3E"/>
                </a:solidFill>
              </a:defRPr>
            </a:pPr>
            <a:r>
              <a:t>Which operation retrieves a single item by primary key?</a:t>
            </a:r>
          </a:p>
          <a:p>
            <a:pPr>
              <a:defRPr sz="1600">
                <a:solidFill>
                  <a:srgbClr val="232F3E"/>
                </a:solidFill>
              </a:defRPr>
            </a:pPr>
            <a:r>
              <a:t>A. Scan</a:t>
            </a:r>
          </a:p>
          <a:p>
            <a:pPr>
              <a:defRPr sz="1600">
                <a:solidFill>
                  <a:srgbClr val="232F3E"/>
                </a:solidFill>
              </a:defRPr>
            </a:pPr>
            <a:r>
              <a:t>B. Query</a:t>
            </a:r>
          </a:p>
          <a:p>
            <a:pPr>
              <a:defRPr sz="1600">
                <a:solidFill>
                  <a:srgbClr val="232F3E"/>
                </a:solidFill>
              </a:defRPr>
            </a:pPr>
            <a:r>
              <a:t>C. GetItem</a:t>
            </a:r>
          </a:p>
          <a:p>
            <a:pPr>
              <a:defRPr sz="1600">
                <a:solidFill>
                  <a:srgbClr val="232F3E"/>
                </a:solidFill>
              </a:defRPr>
            </a:pPr>
            <a:r>
              <a:t>D. PutItem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10</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GetItem retrieves a single item using its primary key. It is the fastest read operation. It requires the full primary key. It does not scan the table. This makes it very efficient.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11</a:t>
            </a:r>
          </a:p>
        </p:txBody>
      </p:sp>
      <p:sp>
        <p:nvSpPr>
          <p:cNvPr id="3" name="Content Placeholder 2"/>
          <p:cNvSpPr>
            <a:spLocks noGrp="1"/>
          </p:cNvSpPr>
          <p:nvPr>
            <p:ph idx="1"/>
          </p:nvPr>
        </p:nvSpPr>
        <p:spPr/>
        <p:txBody>
          <a:bodyPr/>
          <a:lstStyle/>
          <a:p>
            <a:pPr>
              <a:defRPr sz="1600">
                <a:solidFill>
                  <a:srgbClr val="232F3E"/>
                </a:solidFill>
              </a:defRPr>
            </a:pPr>
            <a:r>
              <a:t>Which operation reads the entire table?</a:t>
            </a:r>
          </a:p>
          <a:p>
            <a:pPr>
              <a:defRPr sz="1600">
                <a:solidFill>
                  <a:srgbClr val="232F3E"/>
                </a:solidFill>
              </a:defRPr>
            </a:pPr>
            <a:r>
              <a:t>A. GetItem</a:t>
            </a:r>
          </a:p>
          <a:p>
            <a:pPr>
              <a:defRPr sz="1600">
                <a:solidFill>
                  <a:srgbClr val="232F3E"/>
                </a:solidFill>
              </a:defRPr>
            </a:pPr>
            <a:r>
              <a:t>B. Query</a:t>
            </a:r>
          </a:p>
          <a:p>
            <a:pPr>
              <a:defRPr sz="1600">
                <a:solidFill>
                  <a:srgbClr val="232F3E"/>
                </a:solidFill>
              </a:defRPr>
            </a:pPr>
            <a:r>
              <a:t>C. Scan</a:t>
            </a:r>
          </a:p>
          <a:p>
            <a:pPr>
              <a:defRPr sz="1600">
                <a:solidFill>
                  <a:srgbClr val="232F3E"/>
                </a:solidFill>
              </a:defRPr>
            </a:pPr>
            <a:r>
              <a:t>D. UpdateItem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11</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Scan reads every item in a table. It ignores indexes. This operation consumes a lot of capacity. It is slow for large tables. Scan should be avoided when possible.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12</a:t>
            </a:r>
          </a:p>
        </p:txBody>
      </p:sp>
      <p:sp>
        <p:nvSpPr>
          <p:cNvPr id="3" name="Content Placeholder 2"/>
          <p:cNvSpPr>
            <a:spLocks noGrp="1"/>
          </p:cNvSpPr>
          <p:nvPr>
            <p:ph idx="1"/>
          </p:nvPr>
        </p:nvSpPr>
        <p:spPr/>
        <p:txBody>
          <a:bodyPr/>
          <a:lstStyle/>
          <a:p>
            <a:pPr>
              <a:defRPr sz="1600">
                <a:solidFill>
                  <a:srgbClr val="232F3E"/>
                </a:solidFill>
              </a:defRPr>
            </a:pPr>
            <a:r>
              <a:t>Which consistency model is used by default?</a:t>
            </a:r>
          </a:p>
          <a:p>
            <a:pPr>
              <a:defRPr sz="1600">
                <a:solidFill>
                  <a:srgbClr val="232F3E"/>
                </a:solidFill>
              </a:defRPr>
            </a:pPr>
            <a:r>
              <a:t>A. Strong</a:t>
            </a:r>
          </a:p>
          <a:p>
            <a:pPr>
              <a:defRPr sz="1600">
                <a:solidFill>
                  <a:srgbClr val="232F3E"/>
                </a:solidFill>
              </a:defRPr>
            </a:pPr>
            <a:r>
              <a:t>B. Eventual</a:t>
            </a:r>
          </a:p>
          <a:p>
            <a:pPr>
              <a:defRPr sz="1600">
                <a:solidFill>
                  <a:srgbClr val="232F3E"/>
                </a:solidFill>
              </a:defRPr>
            </a:pPr>
            <a:r>
              <a:t>C. Locked</a:t>
            </a:r>
          </a:p>
          <a:p>
            <a:pPr>
              <a:defRPr sz="1600">
                <a:solidFill>
                  <a:srgbClr val="232F3E"/>
                </a:solidFill>
              </a:defRPr>
            </a:pPr>
            <a:r>
              <a:t>D. Cached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12</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DynamoDB uses eventual consistency by default. Reads may briefly return stale data. This improves availability and performance. Most applications tolerate this behavior. Strong consistency is optional.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13</a:t>
            </a:r>
          </a:p>
        </p:txBody>
      </p:sp>
      <p:sp>
        <p:nvSpPr>
          <p:cNvPr id="3" name="Content Placeholder 2"/>
          <p:cNvSpPr>
            <a:spLocks noGrp="1"/>
          </p:cNvSpPr>
          <p:nvPr>
            <p:ph idx="1"/>
          </p:nvPr>
        </p:nvSpPr>
        <p:spPr/>
        <p:txBody>
          <a:bodyPr/>
          <a:lstStyle/>
          <a:p>
            <a:pPr>
              <a:defRPr sz="1600">
                <a:solidFill>
                  <a:srgbClr val="232F3E"/>
                </a:solidFill>
              </a:defRPr>
            </a:pPr>
            <a:r>
              <a:t>What does eventual consistency mean?</a:t>
            </a:r>
          </a:p>
          <a:p>
            <a:pPr>
              <a:defRPr sz="1600">
                <a:solidFill>
                  <a:srgbClr val="232F3E"/>
                </a:solidFill>
              </a:defRPr>
            </a:pPr>
            <a:r>
              <a:t>A. Data is always outdated</a:t>
            </a:r>
          </a:p>
          <a:p>
            <a:pPr>
              <a:defRPr sz="1600">
                <a:solidFill>
                  <a:srgbClr val="232F3E"/>
                </a:solidFill>
              </a:defRPr>
            </a:pPr>
            <a:r>
              <a:t>B. Data may be briefly stale</a:t>
            </a:r>
          </a:p>
          <a:p>
            <a:pPr>
              <a:defRPr sz="1600">
                <a:solidFill>
                  <a:srgbClr val="232F3E"/>
                </a:solidFill>
              </a:defRPr>
            </a:pPr>
            <a:r>
              <a:t>C. Writes always fail</a:t>
            </a:r>
          </a:p>
          <a:p>
            <a:pPr>
              <a:defRPr sz="1600">
                <a:solidFill>
                  <a:srgbClr val="232F3E"/>
                </a:solidFill>
              </a:defRPr>
            </a:pPr>
            <a:r>
              <a:t>D. Reads are blocked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13</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Eventual consistency means updates propagate over time. Reads might return old values briefly. The system eventually becomes consistent. This model improves availability. It is common in distributed systems.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14</a:t>
            </a:r>
          </a:p>
        </p:txBody>
      </p:sp>
      <p:sp>
        <p:nvSpPr>
          <p:cNvPr id="3" name="Content Placeholder 2"/>
          <p:cNvSpPr>
            <a:spLocks noGrp="1"/>
          </p:cNvSpPr>
          <p:nvPr>
            <p:ph idx="1"/>
          </p:nvPr>
        </p:nvSpPr>
        <p:spPr/>
        <p:txBody>
          <a:bodyPr/>
          <a:lstStyle/>
          <a:p>
            <a:pPr>
              <a:defRPr sz="1600">
                <a:solidFill>
                  <a:srgbClr val="232F3E"/>
                </a:solidFill>
              </a:defRPr>
            </a:pPr>
            <a:r>
              <a:t>Which consistency option always returns the latest data?</a:t>
            </a:r>
          </a:p>
          <a:p>
            <a:pPr>
              <a:defRPr sz="1600">
                <a:solidFill>
                  <a:srgbClr val="232F3E"/>
                </a:solidFill>
              </a:defRPr>
            </a:pPr>
            <a:r>
              <a:t>A. Eventual</a:t>
            </a:r>
          </a:p>
          <a:p>
            <a:pPr>
              <a:defRPr sz="1600">
                <a:solidFill>
                  <a:srgbClr val="232F3E"/>
                </a:solidFill>
              </a:defRPr>
            </a:pPr>
            <a:r>
              <a:t>B. Lazy</a:t>
            </a:r>
          </a:p>
          <a:p>
            <a:pPr>
              <a:defRPr sz="1600">
                <a:solidFill>
                  <a:srgbClr val="232F3E"/>
                </a:solidFill>
              </a:defRPr>
            </a:pPr>
            <a:r>
              <a:t>C. Strong</a:t>
            </a:r>
          </a:p>
          <a:p>
            <a:pPr>
              <a:defRPr sz="1600">
                <a:solidFill>
                  <a:srgbClr val="232F3E"/>
                </a:solidFill>
              </a:defRPr>
            </a:pPr>
            <a:r>
              <a:t>D. Cached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14</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Strong consistency guarantees the latest write is returned. It ensures correctness for reads. This option costs more capacity. It may reduce availability slightly. DynamoDB allows choosing this per request.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15</a:t>
            </a:r>
          </a:p>
        </p:txBody>
      </p:sp>
      <p:sp>
        <p:nvSpPr>
          <p:cNvPr id="3" name="Content Placeholder 2"/>
          <p:cNvSpPr>
            <a:spLocks noGrp="1"/>
          </p:cNvSpPr>
          <p:nvPr>
            <p:ph idx="1"/>
          </p:nvPr>
        </p:nvSpPr>
        <p:spPr/>
        <p:txBody>
          <a:bodyPr/>
          <a:lstStyle/>
          <a:p>
            <a:pPr>
              <a:defRPr sz="1600">
                <a:solidFill>
                  <a:srgbClr val="232F3E"/>
                </a:solidFill>
              </a:defRPr>
            </a:pPr>
            <a:r>
              <a:t>What does TTL stand for?</a:t>
            </a:r>
          </a:p>
          <a:p>
            <a:pPr>
              <a:defRPr sz="1600">
                <a:solidFill>
                  <a:srgbClr val="232F3E"/>
                </a:solidFill>
              </a:defRPr>
            </a:pPr>
            <a:r>
              <a:t>A. Time To Load</a:t>
            </a:r>
          </a:p>
          <a:p>
            <a:pPr>
              <a:defRPr sz="1600">
                <a:solidFill>
                  <a:srgbClr val="232F3E"/>
                </a:solidFill>
              </a:defRPr>
            </a:pPr>
            <a:r>
              <a:t>B. Time To Live</a:t>
            </a:r>
          </a:p>
          <a:p>
            <a:pPr>
              <a:defRPr sz="1600">
                <a:solidFill>
                  <a:srgbClr val="232F3E"/>
                </a:solidFill>
              </a:defRPr>
            </a:pPr>
            <a:r>
              <a:t>C. Table Time Limit</a:t>
            </a:r>
          </a:p>
          <a:p>
            <a:pPr>
              <a:defRPr sz="1600">
                <a:solidFill>
                  <a:srgbClr val="232F3E"/>
                </a:solidFill>
              </a:defRPr>
            </a:pPr>
            <a:r>
              <a:t>D. Transfer Level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15</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TTL stands for Time To Live. It defines when an item should expire. DynamoDB checks the TTL attribute. Expired items are deleted automatically. This helps manage data lifecycle.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16</a:t>
            </a:r>
          </a:p>
        </p:txBody>
      </p:sp>
      <p:sp>
        <p:nvSpPr>
          <p:cNvPr id="3" name="Content Placeholder 2"/>
          <p:cNvSpPr>
            <a:spLocks noGrp="1"/>
          </p:cNvSpPr>
          <p:nvPr>
            <p:ph idx="1"/>
          </p:nvPr>
        </p:nvSpPr>
        <p:spPr/>
        <p:txBody>
          <a:bodyPr/>
          <a:lstStyle/>
          <a:p>
            <a:pPr>
              <a:defRPr sz="1600">
                <a:solidFill>
                  <a:srgbClr val="232F3E"/>
                </a:solidFill>
              </a:defRPr>
            </a:pPr>
            <a:r>
              <a:t>What does TTL do in DynamoDB?</a:t>
            </a:r>
          </a:p>
          <a:p>
            <a:pPr>
              <a:defRPr sz="1600">
                <a:solidFill>
                  <a:srgbClr val="232F3E"/>
                </a:solidFill>
              </a:defRPr>
            </a:pPr>
            <a:r>
              <a:t>A. Encrypts data</a:t>
            </a:r>
          </a:p>
          <a:p>
            <a:pPr>
              <a:defRPr sz="1600">
                <a:solidFill>
                  <a:srgbClr val="232F3E"/>
                </a:solidFill>
              </a:defRPr>
            </a:pPr>
            <a:r>
              <a:t>B. Deletes expired items</a:t>
            </a:r>
          </a:p>
          <a:p>
            <a:pPr>
              <a:defRPr sz="1600">
                <a:solidFill>
                  <a:srgbClr val="232F3E"/>
                </a:solidFill>
              </a:defRPr>
            </a:pPr>
            <a:r>
              <a:t>C. Speeds up queries</a:t>
            </a:r>
          </a:p>
          <a:p>
            <a:pPr>
              <a:defRPr sz="1600">
                <a:solidFill>
                  <a:srgbClr val="232F3E"/>
                </a:solidFill>
              </a:defRPr>
            </a:pPr>
            <a:r>
              <a:t>D. Creates backups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16</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TTL automatically deletes items after expiration. This reduces storage usage. Deletion happens in the background. It is not immediate. TTL is useful for temporary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17</a:t>
            </a:r>
          </a:p>
        </p:txBody>
      </p:sp>
      <p:sp>
        <p:nvSpPr>
          <p:cNvPr id="3" name="Content Placeholder 2"/>
          <p:cNvSpPr>
            <a:spLocks noGrp="1"/>
          </p:cNvSpPr>
          <p:nvPr>
            <p:ph idx="1"/>
          </p:nvPr>
        </p:nvSpPr>
        <p:spPr/>
        <p:txBody>
          <a:bodyPr/>
          <a:lstStyle/>
          <a:p>
            <a:pPr>
              <a:defRPr sz="1600">
                <a:solidFill>
                  <a:srgbClr val="232F3E"/>
                </a:solidFill>
              </a:defRPr>
            </a:pPr>
            <a:r>
              <a:t>What is DynamoDB Streams used for?</a:t>
            </a:r>
          </a:p>
          <a:p>
            <a:pPr>
              <a:defRPr sz="1600">
                <a:solidFill>
                  <a:srgbClr val="232F3E"/>
                </a:solidFill>
              </a:defRPr>
            </a:pPr>
            <a:r>
              <a:t>A. Metrics</a:t>
            </a:r>
          </a:p>
          <a:p>
            <a:pPr>
              <a:defRPr sz="1600">
                <a:solidFill>
                  <a:srgbClr val="232F3E"/>
                </a:solidFill>
              </a:defRPr>
            </a:pPr>
            <a:r>
              <a:t>B. Item changes</a:t>
            </a:r>
          </a:p>
          <a:p>
            <a:pPr>
              <a:defRPr sz="1600">
                <a:solidFill>
                  <a:srgbClr val="232F3E"/>
                </a:solidFill>
              </a:defRPr>
            </a:pPr>
            <a:r>
              <a:t>C. Indexing</a:t>
            </a:r>
          </a:p>
          <a:p>
            <a:pPr>
              <a:defRPr sz="1600">
                <a:solidFill>
                  <a:srgbClr val="232F3E"/>
                </a:solidFill>
              </a:defRPr>
            </a:pPr>
            <a:r>
              <a:t>D. Billing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17</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DynamoDB Streams capture item-level changes. They record inserts, updates, and deletes. Streams enable event-driven processing. They integrate with Lambda. This supports real-time workflows.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18</a:t>
            </a:r>
          </a:p>
        </p:txBody>
      </p:sp>
      <p:sp>
        <p:nvSpPr>
          <p:cNvPr id="3" name="Content Placeholder 2"/>
          <p:cNvSpPr>
            <a:spLocks noGrp="1"/>
          </p:cNvSpPr>
          <p:nvPr>
            <p:ph idx="1"/>
          </p:nvPr>
        </p:nvSpPr>
        <p:spPr/>
        <p:txBody>
          <a:bodyPr/>
          <a:lstStyle/>
          <a:p>
            <a:pPr>
              <a:defRPr sz="1600">
                <a:solidFill>
                  <a:srgbClr val="232F3E"/>
                </a:solidFill>
              </a:defRPr>
            </a:pPr>
            <a:r>
              <a:t>Which AWS service commonly processes DynamoDB Streams?</a:t>
            </a:r>
          </a:p>
          <a:p>
            <a:pPr>
              <a:defRPr sz="1600">
                <a:solidFill>
                  <a:srgbClr val="232F3E"/>
                </a:solidFill>
              </a:defRPr>
            </a:pPr>
            <a:r>
              <a:t>A. EC2</a:t>
            </a:r>
          </a:p>
          <a:p>
            <a:pPr>
              <a:defRPr sz="1600">
                <a:solidFill>
                  <a:srgbClr val="232F3E"/>
                </a:solidFill>
              </a:defRPr>
            </a:pPr>
            <a:r>
              <a:t>B. Lambda</a:t>
            </a:r>
          </a:p>
          <a:p>
            <a:pPr>
              <a:defRPr sz="1600">
                <a:solidFill>
                  <a:srgbClr val="232F3E"/>
                </a:solidFill>
              </a:defRPr>
            </a:pPr>
            <a:r>
              <a:t>C. S3</a:t>
            </a:r>
          </a:p>
          <a:p>
            <a:pPr>
              <a:defRPr sz="1600">
                <a:solidFill>
                  <a:srgbClr val="232F3E"/>
                </a:solidFill>
              </a:defRPr>
            </a:pPr>
            <a:r>
              <a:t>D. Redshift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18</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AWS Lambda processes DynamoDB Streams events. It reacts automatically to changes. No server management is required. This supports serverless architectures. It enables near real-time processing.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19</a:t>
            </a:r>
          </a:p>
        </p:txBody>
      </p:sp>
      <p:sp>
        <p:nvSpPr>
          <p:cNvPr id="3" name="Content Placeholder 2"/>
          <p:cNvSpPr>
            <a:spLocks noGrp="1"/>
          </p:cNvSpPr>
          <p:nvPr>
            <p:ph idx="1"/>
          </p:nvPr>
        </p:nvSpPr>
        <p:spPr/>
        <p:txBody>
          <a:bodyPr/>
          <a:lstStyle/>
          <a:p>
            <a:pPr>
              <a:defRPr sz="1600">
                <a:solidFill>
                  <a:srgbClr val="232F3E"/>
                </a:solidFill>
              </a:defRPr>
            </a:pPr>
            <a:r>
              <a:t>What is DynamoDB DAX?</a:t>
            </a:r>
          </a:p>
          <a:p>
            <a:pPr>
              <a:defRPr sz="1600">
                <a:solidFill>
                  <a:srgbClr val="232F3E"/>
                </a:solidFill>
              </a:defRPr>
            </a:pPr>
            <a:r>
              <a:t>A. Backup service</a:t>
            </a:r>
          </a:p>
          <a:p>
            <a:pPr>
              <a:defRPr sz="1600">
                <a:solidFill>
                  <a:srgbClr val="232F3E"/>
                </a:solidFill>
              </a:defRPr>
            </a:pPr>
            <a:r>
              <a:t>B. In-memory cache</a:t>
            </a:r>
          </a:p>
          <a:p>
            <a:pPr>
              <a:defRPr sz="1600">
                <a:solidFill>
                  <a:srgbClr val="232F3E"/>
                </a:solidFill>
              </a:defRPr>
            </a:pPr>
            <a:r>
              <a:t>C. Encryption tool</a:t>
            </a:r>
          </a:p>
          <a:p>
            <a:pPr>
              <a:defRPr sz="1600">
                <a:solidFill>
                  <a:srgbClr val="232F3E"/>
                </a:solidFill>
              </a:defRPr>
            </a:pPr>
            <a:r>
              <a:t>D. Logging system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19</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DAX is DynamoDB Accelerator. It is an in-memory cache. It reduces read latency. DAX is fully managed. It is used for read-heavy workloads.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20</a:t>
            </a:r>
          </a:p>
        </p:txBody>
      </p:sp>
      <p:sp>
        <p:nvSpPr>
          <p:cNvPr id="3" name="Content Placeholder 2"/>
          <p:cNvSpPr>
            <a:spLocks noGrp="1"/>
          </p:cNvSpPr>
          <p:nvPr>
            <p:ph idx="1"/>
          </p:nvPr>
        </p:nvSpPr>
        <p:spPr/>
        <p:txBody>
          <a:bodyPr/>
          <a:lstStyle/>
          <a:p>
            <a:pPr>
              <a:defRPr sz="1600">
                <a:solidFill>
                  <a:srgbClr val="232F3E"/>
                </a:solidFill>
              </a:defRPr>
            </a:pPr>
            <a:r>
              <a:t>What does DynamoDB DAX improve?</a:t>
            </a:r>
          </a:p>
          <a:p>
            <a:pPr>
              <a:defRPr sz="1600">
                <a:solidFill>
                  <a:srgbClr val="232F3E"/>
                </a:solidFill>
              </a:defRPr>
            </a:pPr>
            <a:r>
              <a:t>A. Write speed</a:t>
            </a:r>
          </a:p>
          <a:p>
            <a:pPr>
              <a:defRPr sz="1600">
                <a:solidFill>
                  <a:srgbClr val="232F3E"/>
                </a:solidFill>
              </a:defRPr>
            </a:pPr>
            <a:r>
              <a:t>B. Read latency</a:t>
            </a:r>
          </a:p>
          <a:p>
            <a:pPr>
              <a:defRPr sz="1600">
                <a:solidFill>
                  <a:srgbClr val="232F3E"/>
                </a:solidFill>
              </a:defRPr>
            </a:pPr>
            <a:r>
              <a:t>C. Storage size</a:t>
            </a:r>
          </a:p>
          <a:p>
            <a:pPr>
              <a:defRPr sz="1600">
                <a:solidFill>
                  <a:srgbClr val="232F3E"/>
                </a:solidFill>
              </a:defRPr>
            </a:pPr>
            <a:r>
              <a:t>D. Schema flexibility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20</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DAX improves read latency significantly. It serves cached responses. Applications require minimal changes. It does not affect writes. DAX is ideal for high-read traffic.</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21</a:t>
            </a:r>
          </a:p>
        </p:txBody>
      </p:sp>
      <p:sp>
        <p:nvSpPr>
          <p:cNvPr id="3" name="Content Placeholder 2"/>
          <p:cNvSpPr>
            <a:spLocks noGrp="1"/>
          </p:cNvSpPr>
          <p:nvPr>
            <p:ph idx="1"/>
          </p:nvPr>
        </p:nvSpPr>
        <p:spPr/>
        <p:txBody>
          <a:bodyPr/>
          <a:lstStyle/>
          <a:p>
            <a:pPr>
              <a:defRPr sz="1600">
                <a:solidFill>
                  <a:srgbClr val="232F3E"/>
                </a:solidFill>
              </a:defRPr>
            </a:pPr>
            <a:r>
              <a:t>Which pricing mode automatically scales capacity?</a:t>
            </a:r>
          </a:p>
          <a:p>
            <a:pPr>
              <a:defRPr sz="1600">
                <a:solidFill>
                  <a:srgbClr val="232F3E"/>
                </a:solidFill>
              </a:defRPr>
            </a:pPr>
            <a:r>
              <a:t>A. Provisioned</a:t>
            </a:r>
          </a:p>
          <a:p>
            <a:pPr>
              <a:defRPr sz="1600">
                <a:solidFill>
                  <a:srgbClr val="232F3E"/>
                </a:solidFill>
              </a:defRPr>
            </a:pPr>
            <a:r>
              <a:t>B. Reserved</a:t>
            </a:r>
          </a:p>
          <a:p>
            <a:pPr>
              <a:defRPr sz="1600">
                <a:solidFill>
                  <a:srgbClr val="232F3E"/>
                </a:solidFill>
              </a:defRPr>
            </a:pPr>
            <a:r>
              <a:t>C. On-Demand</a:t>
            </a:r>
          </a:p>
          <a:p>
            <a:pPr>
              <a:defRPr sz="1600">
                <a:solidFill>
                  <a:srgbClr val="232F3E"/>
                </a:solidFill>
              </a:defRPr>
            </a:pPr>
            <a:r>
              <a:t>D. Fixed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21</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On-Demand pricing scales automatically. You do not manage capacity. You pay per request. This is ideal for unpredictable workloads. It reduces operational effort.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22</a:t>
            </a:r>
          </a:p>
        </p:txBody>
      </p:sp>
      <p:sp>
        <p:nvSpPr>
          <p:cNvPr id="3" name="Content Placeholder 2"/>
          <p:cNvSpPr>
            <a:spLocks noGrp="1"/>
          </p:cNvSpPr>
          <p:nvPr>
            <p:ph idx="1"/>
          </p:nvPr>
        </p:nvSpPr>
        <p:spPr/>
        <p:txBody>
          <a:bodyPr/>
          <a:lstStyle/>
          <a:p>
            <a:pPr>
              <a:defRPr sz="1600">
                <a:solidFill>
                  <a:srgbClr val="232F3E"/>
                </a:solidFill>
              </a:defRPr>
            </a:pPr>
            <a:r>
              <a:t>What unit measures read capacity?</a:t>
            </a:r>
          </a:p>
          <a:p>
            <a:pPr>
              <a:defRPr sz="1600">
                <a:solidFill>
                  <a:srgbClr val="232F3E"/>
                </a:solidFill>
              </a:defRPr>
            </a:pPr>
            <a:r>
              <a:t>A. TPS</a:t>
            </a:r>
          </a:p>
          <a:p>
            <a:pPr>
              <a:defRPr sz="1600">
                <a:solidFill>
                  <a:srgbClr val="232F3E"/>
                </a:solidFill>
              </a:defRPr>
            </a:pPr>
            <a:r>
              <a:t>B. WCU</a:t>
            </a:r>
          </a:p>
          <a:p>
            <a:pPr>
              <a:defRPr sz="1600">
                <a:solidFill>
                  <a:srgbClr val="232F3E"/>
                </a:solidFill>
              </a:defRPr>
            </a:pPr>
            <a:r>
              <a:t>C. RCU</a:t>
            </a:r>
          </a:p>
          <a:p>
            <a:pPr>
              <a:defRPr sz="1600">
                <a:solidFill>
                  <a:srgbClr val="232F3E"/>
                </a:solidFill>
              </a:defRPr>
            </a:pPr>
            <a:r>
              <a:t>D. Storage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22</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Read Capacity Units measure read throughput. They are based on item size. Strongly consistent reads cost more. RCUs control read limits. Proper planning avoids throttling.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23</a:t>
            </a:r>
          </a:p>
        </p:txBody>
      </p:sp>
      <p:sp>
        <p:nvSpPr>
          <p:cNvPr id="3" name="Content Placeholder 2"/>
          <p:cNvSpPr>
            <a:spLocks noGrp="1"/>
          </p:cNvSpPr>
          <p:nvPr>
            <p:ph idx="1"/>
          </p:nvPr>
        </p:nvSpPr>
        <p:spPr/>
        <p:txBody>
          <a:bodyPr/>
          <a:lstStyle/>
          <a:p>
            <a:pPr>
              <a:defRPr sz="1600">
                <a:solidFill>
                  <a:srgbClr val="232F3E"/>
                </a:solidFill>
              </a:defRPr>
            </a:pPr>
            <a:r>
              <a:t>What unit measures write capacity?</a:t>
            </a:r>
          </a:p>
          <a:p>
            <a:pPr>
              <a:defRPr sz="1600">
                <a:solidFill>
                  <a:srgbClr val="232F3E"/>
                </a:solidFill>
              </a:defRPr>
            </a:pPr>
            <a:r>
              <a:t>A. RCU</a:t>
            </a:r>
          </a:p>
          <a:p>
            <a:pPr>
              <a:defRPr sz="1600">
                <a:solidFill>
                  <a:srgbClr val="232F3E"/>
                </a:solidFill>
              </a:defRPr>
            </a:pPr>
            <a:r>
              <a:t>B. WCU</a:t>
            </a:r>
          </a:p>
          <a:p>
            <a:pPr>
              <a:defRPr sz="1600">
                <a:solidFill>
                  <a:srgbClr val="232F3E"/>
                </a:solidFill>
              </a:defRPr>
            </a:pPr>
            <a:r>
              <a:t>C. TPS</a:t>
            </a:r>
          </a:p>
          <a:p>
            <a:pPr>
              <a:defRPr sz="1600">
                <a:solidFill>
                  <a:srgbClr val="232F3E"/>
                </a:solidFill>
              </a:defRPr>
            </a:pPr>
            <a:r>
              <a:t>D. Storage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23</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Write Capacity Units measure write throughput. They depend on item size. Each write consumes WCUs. Exceeding capacity causes throttling. WCUs control write performance.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24</a:t>
            </a:r>
          </a:p>
        </p:txBody>
      </p:sp>
      <p:sp>
        <p:nvSpPr>
          <p:cNvPr id="3" name="Content Placeholder 2"/>
          <p:cNvSpPr>
            <a:spLocks noGrp="1"/>
          </p:cNvSpPr>
          <p:nvPr>
            <p:ph idx="1"/>
          </p:nvPr>
        </p:nvSpPr>
        <p:spPr/>
        <p:txBody>
          <a:bodyPr/>
          <a:lstStyle/>
          <a:p>
            <a:pPr>
              <a:defRPr sz="1600">
                <a:solidFill>
                  <a:srgbClr val="232F3E"/>
                </a:solidFill>
              </a:defRPr>
            </a:pPr>
            <a:r>
              <a:t>What is a secondary index used for?</a:t>
            </a:r>
          </a:p>
          <a:p>
            <a:pPr>
              <a:defRPr sz="1600">
                <a:solidFill>
                  <a:srgbClr val="232F3E"/>
                </a:solidFill>
              </a:defRPr>
            </a:pPr>
            <a:r>
              <a:t>A. Security</a:t>
            </a:r>
          </a:p>
          <a:p>
            <a:pPr>
              <a:defRPr sz="1600">
                <a:solidFill>
                  <a:srgbClr val="232F3E"/>
                </a:solidFill>
              </a:defRPr>
            </a:pPr>
            <a:r>
              <a:t>B. Alternate queries</a:t>
            </a:r>
          </a:p>
          <a:p>
            <a:pPr>
              <a:defRPr sz="1600">
                <a:solidFill>
                  <a:srgbClr val="232F3E"/>
                </a:solidFill>
              </a:defRPr>
            </a:pPr>
            <a:r>
              <a:t>C. Encryption</a:t>
            </a:r>
          </a:p>
          <a:p>
            <a:pPr>
              <a:defRPr sz="1600">
                <a:solidFill>
                  <a:srgbClr val="232F3E"/>
                </a:solidFill>
              </a:defRPr>
            </a:pPr>
            <a:r>
              <a:t>D. Deletion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24</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Secondary indexes allow alternate query patterns. They use different keys. DynamoDB supports LSIs and GSIs. Indexes increase flexibility. They also add cost.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25</a:t>
            </a:r>
          </a:p>
        </p:txBody>
      </p:sp>
      <p:sp>
        <p:nvSpPr>
          <p:cNvPr id="3" name="Content Placeholder 2"/>
          <p:cNvSpPr>
            <a:spLocks noGrp="1"/>
          </p:cNvSpPr>
          <p:nvPr>
            <p:ph idx="1"/>
          </p:nvPr>
        </p:nvSpPr>
        <p:spPr/>
        <p:txBody>
          <a:bodyPr/>
          <a:lstStyle/>
          <a:p>
            <a:pPr>
              <a:defRPr sz="1600">
                <a:solidFill>
                  <a:srgbClr val="232F3E"/>
                </a:solidFill>
              </a:defRPr>
            </a:pPr>
            <a:r>
              <a:t>Which index works across all partitions?</a:t>
            </a:r>
          </a:p>
          <a:p>
            <a:pPr>
              <a:defRPr sz="1600">
                <a:solidFill>
                  <a:srgbClr val="232F3E"/>
                </a:solidFill>
              </a:defRPr>
            </a:pPr>
            <a:r>
              <a:t>A. LSI</a:t>
            </a:r>
          </a:p>
          <a:p>
            <a:pPr>
              <a:defRPr sz="1600">
                <a:solidFill>
                  <a:srgbClr val="232F3E"/>
                </a:solidFill>
              </a:defRPr>
            </a:pPr>
            <a:r>
              <a:t>B. GSI</a:t>
            </a:r>
          </a:p>
          <a:p>
            <a:pPr>
              <a:defRPr sz="1600">
                <a:solidFill>
                  <a:srgbClr val="232F3E"/>
                </a:solidFill>
              </a:defRPr>
            </a:pPr>
            <a:r>
              <a:t>C. TTL</a:t>
            </a:r>
          </a:p>
          <a:p>
            <a:pPr>
              <a:defRPr sz="1600">
                <a:solidFill>
                  <a:srgbClr val="232F3E"/>
                </a:solidFill>
              </a:defRPr>
            </a:pPr>
            <a:r>
              <a:t>D. Stream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25</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Global Secondary Indexes span all partitions. They have their own partition key. GSIs enable new access patterns. They are eventually consistent by default. GSIs are widely used.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26</a:t>
            </a:r>
          </a:p>
        </p:txBody>
      </p:sp>
      <p:sp>
        <p:nvSpPr>
          <p:cNvPr id="3" name="Content Placeholder 2"/>
          <p:cNvSpPr>
            <a:spLocks noGrp="1"/>
          </p:cNvSpPr>
          <p:nvPr>
            <p:ph idx="1"/>
          </p:nvPr>
        </p:nvSpPr>
        <p:spPr/>
        <p:txBody>
          <a:bodyPr/>
          <a:lstStyle/>
          <a:p>
            <a:pPr>
              <a:defRPr sz="1600">
                <a:solidFill>
                  <a:srgbClr val="232F3E"/>
                </a:solidFill>
              </a:defRPr>
            </a:pPr>
            <a:r>
              <a:t>How many items can a transaction write?</a:t>
            </a:r>
          </a:p>
          <a:p>
            <a:pPr>
              <a:defRPr sz="1600">
                <a:solidFill>
                  <a:srgbClr val="232F3E"/>
                </a:solidFill>
              </a:defRPr>
            </a:pPr>
            <a:r>
              <a:t>A. 10</a:t>
            </a:r>
          </a:p>
          <a:p>
            <a:pPr>
              <a:defRPr sz="1600">
                <a:solidFill>
                  <a:srgbClr val="232F3E"/>
                </a:solidFill>
              </a:defRPr>
            </a:pPr>
            <a:r>
              <a:t>B. 20</a:t>
            </a:r>
          </a:p>
          <a:p>
            <a:pPr>
              <a:defRPr sz="1600">
                <a:solidFill>
                  <a:srgbClr val="232F3E"/>
                </a:solidFill>
              </a:defRPr>
            </a:pPr>
            <a:r>
              <a:t>C. 25</a:t>
            </a:r>
          </a:p>
          <a:p>
            <a:pPr>
              <a:defRPr sz="1600">
                <a:solidFill>
                  <a:srgbClr val="232F3E"/>
                </a:solidFill>
              </a:defRPr>
            </a:pPr>
            <a:r>
              <a:t>D. 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26</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transactions support up to 25 items. They ensure atomicity. All writes succeed or fail together. This provides consistency. Transactions cost more capacity.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27</a:t>
            </a:r>
          </a:p>
        </p:txBody>
      </p:sp>
      <p:sp>
        <p:nvSpPr>
          <p:cNvPr id="3" name="Content Placeholder 2"/>
          <p:cNvSpPr>
            <a:spLocks noGrp="1"/>
          </p:cNvSpPr>
          <p:nvPr>
            <p:ph idx="1"/>
          </p:nvPr>
        </p:nvSpPr>
        <p:spPr/>
        <p:txBody>
          <a:bodyPr/>
          <a:lstStyle/>
          <a:p>
            <a:pPr>
              <a:defRPr sz="1600">
                <a:solidFill>
                  <a:srgbClr val="232F3E"/>
                </a:solidFill>
              </a:defRPr>
            </a:pPr>
            <a:r>
              <a:t>Which feature provides ACID guarantees?</a:t>
            </a:r>
          </a:p>
          <a:p>
            <a:pPr>
              <a:defRPr sz="1600">
                <a:solidFill>
                  <a:srgbClr val="232F3E"/>
                </a:solidFill>
              </a:defRPr>
            </a:pPr>
            <a:r>
              <a:t>A. Streams</a:t>
            </a:r>
          </a:p>
          <a:p>
            <a:pPr>
              <a:defRPr sz="1600">
                <a:solidFill>
                  <a:srgbClr val="232F3E"/>
                </a:solidFill>
              </a:defRPr>
            </a:pPr>
            <a:r>
              <a:t>B. DAX</a:t>
            </a:r>
          </a:p>
          <a:p>
            <a:pPr>
              <a:defRPr sz="1600">
                <a:solidFill>
                  <a:srgbClr val="232F3E"/>
                </a:solidFill>
              </a:defRPr>
            </a:pPr>
            <a:r>
              <a:t>C. Transactions</a:t>
            </a:r>
          </a:p>
          <a:p>
            <a:pPr>
              <a:defRPr sz="1600">
                <a:solidFill>
                  <a:srgbClr val="232F3E"/>
                </a:solidFill>
              </a:defRPr>
            </a:pPr>
            <a:r>
              <a:t>D. TTL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27</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Transactions provide ACID properties. They ensure atomic operations. Consistency is guaranteed. Isolation prevents conflicts. This is useful for critical updates.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28</a:t>
            </a:r>
          </a:p>
        </p:txBody>
      </p:sp>
      <p:sp>
        <p:nvSpPr>
          <p:cNvPr id="3" name="Content Placeholder 2"/>
          <p:cNvSpPr>
            <a:spLocks noGrp="1"/>
          </p:cNvSpPr>
          <p:nvPr>
            <p:ph idx="1"/>
          </p:nvPr>
        </p:nvSpPr>
        <p:spPr/>
        <p:txBody>
          <a:bodyPr/>
          <a:lstStyle/>
          <a:p>
            <a:pPr>
              <a:defRPr sz="1600">
                <a:solidFill>
                  <a:srgbClr val="232F3E"/>
                </a:solidFill>
              </a:defRPr>
            </a:pPr>
            <a:r>
              <a:t>Where is DynamoDB data stored?</a:t>
            </a:r>
          </a:p>
          <a:p>
            <a:pPr>
              <a:defRPr sz="1600">
                <a:solidFill>
                  <a:srgbClr val="232F3E"/>
                </a:solidFill>
              </a:defRPr>
            </a:pPr>
            <a:r>
              <a:t>A. One server</a:t>
            </a:r>
          </a:p>
          <a:p>
            <a:pPr>
              <a:defRPr sz="1600">
                <a:solidFill>
                  <a:srgbClr val="232F3E"/>
                </a:solidFill>
              </a:defRPr>
            </a:pPr>
            <a:r>
              <a:t>B. One AZ</a:t>
            </a:r>
          </a:p>
          <a:p>
            <a:pPr>
              <a:defRPr sz="1600">
                <a:solidFill>
                  <a:srgbClr val="232F3E"/>
                </a:solidFill>
              </a:defRPr>
            </a:pPr>
            <a:r>
              <a:t>C. Multiple AZs</a:t>
            </a:r>
          </a:p>
          <a:p>
            <a:pPr>
              <a:defRPr sz="1600">
                <a:solidFill>
                  <a:srgbClr val="232F3E"/>
                </a:solidFill>
              </a:defRPr>
            </a:pPr>
            <a:r>
              <a:t>D. Cache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28</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stores data across multiple AZs. This improves durability. Data is replicated automatically. Failures do not cause data loss. High availability is maintained.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29</a:t>
            </a:r>
          </a:p>
        </p:txBody>
      </p:sp>
      <p:sp>
        <p:nvSpPr>
          <p:cNvPr id="3" name="Content Placeholder 2"/>
          <p:cNvSpPr>
            <a:spLocks noGrp="1"/>
          </p:cNvSpPr>
          <p:nvPr>
            <p:ph idx="1"/>
          </p:nvPr>
        </p:nvSpPr>
        <p:spPr/>
        <p:txBody>
          <a:bodyPr/>
          <a:lstStyle/>
          <a:p>
            <a:pPr>
              <a:defRPr sz="1600">
                <a:solidFill>
                  <a:srgbClr val="232F3E"/>
                </a:solidFill>
              </a:defRPr>
            </a:pPr>
            <a:r>
              <a:t>What does serverless mean?</a:t>
            </a:r>
          </a:p>
          <a:p>
            <a:pPr>
              <a:defRPr sz="1600">
                <a:solidFill>
                  <a:srgbClr val="232F3E"/>
                </a:solidFill>
              </a:defRPr>
            </a:pPr>
            <a:r>
              <a:t>A. No database</a:t>
            </a:r>
          </a:p>
          <a:p>
            <a:pPr>
              <a:defRPr sz="1600">
                <a:solidFill>
                  <a:srgbClr val="232F3E"/>
                </a:solidFill>
              </a:defRPr>
            </a:pPr>
            <a:r>
              <a:t>B. No servers to manage</a:t>
            </a:r>
          </a:p>
          <a:p>
            <a:pPr>
              <a:defRPr sz="1600">
                <a:solidFill>
                  <a:srgbClr val="232F3E"/>
                </a:solidFill>
              </a:defRPr>
            </a:pPr>
            <a:r>
              <a:t>C. No cost</a:t>
            </a:r>
          </a:p>
          <a:p>
            <a:pPr>
              <a:defRPr sz="1600">
                <a:solidFill>
                  <a:srgbClr val="232F3E"/>
                </a:solidFill>
              </a:defRPr>
            </a:pPr>
            <a:r>
              <a:t>D. No scaling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29</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Serverless means no server management. AWS handles infrastructure. Scaling is automatic. You focus on application logic. This reduces operational overhead.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30</a:t>
            </a:r>
          </a:p>
        </p:txBody>
      </p:sp>
      <p:sp>
        <p:nvSpPr>
          <p:cNvPr id="3" name="Content Placeholder 2"/>
          <p:cNvSpPr>
            <a:spLocks noGrp="1"/>
          </p:cNvSpPr>
          <p:nvPr>
            <p:ph idx="1"/>
          </p:nvPr>
        </p:nvSpPr>
        <p:spPr/>
        <p:txBody>
          <a:bodyPr/>
          <a:lstStyle/>
          <a:p>
            <a:pPr>
              <a:defRPr sz="1600">
                <a:solidFill>
                  <a:srgbClr val="232F3E"/>
                </a:solidFill>
              </a:defRPr>
            </a:pPr>
            <a:r>
              <a:t>How is DynamoDB schema defined?</a:t>
            </a:r>
          </a:p>
          <a:p>
            <a:pPr>
              <a:defRPr sz="1600">
                <a:solidFill>
                  <a:srgbClr val="232F3E"/>
                </a:solidFill>
              </a:defRPr>
            </a:pPr>
            <a:r>
              <a:t>A. Fixed</a:t>
            </a:r>
          </a:p>
          <a:p>
            <a:pPr>
              <a:defRPr sz="1600">
                <a:solidFill>
                  <a:srgbClr val="232F3E"/>
                </a:solidFill>
              </a:defRPr>
            </a:pPr>
            <a:r>
              <a:t>B. Strict</a:t>
            </a:r>
          </a:p>
          <a:p>
            <a:pPr>
              <a:defRPr sz="1600">
                <a:solidFill>
                  <a:srgbClr val="232F3E"/>
                </a:solidFill>
              </a:defRPr>
            </a:pPr>
            <a:r>
              <a:t>C. Flexible</a:t>
            </a:r>
          </a:p>
          <a:p>
            <a:pPr>
              <a:defRPr sz="1600">
                <a:solidFill>
                  <a:srgbClr val="232F3E"/>
                </a:solidFill>
              </a:defRPr>
            </a:pPr>
            <a:r>
              <a:t>D. Locked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30</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has a flexible schema. Items can have different attributes. Only keys are required. This supports evolving data models. Flexibility is a NoSQL advantage.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31</a:t>
            </a:r>
          </a:p>
        </p:txBody>
      </p:sp>
      <p:sp>
        <p:nvSpPr>
          <p:cNvPr id="3" name="Content Placeholder 2"/>
          <p:cNvSpPr>
            <a:spLocks noGrp="1"/>
          </p:cNvSpPr>
          <p:nvPr>
            <p:ph idx="1"/>
          </p:nvPr>
        </p:nvSpPr>
        <p:spPr/>
        <p:txBody>
          <a:bodyPr/>
          <a:lstStyle/>
          <a:p>
            <a:pPr>
              <a:defRPr sz="1600">
                <a:solidFill>
                  <a:srgbClr val="232F3E"/>
                </a:solidFill>
              </a:defRPr>
            </a:pPr>
            <a:r>
              <a:t>Which attribute type is NOT supported?</a:t>
            </a:r>
          </a:p>
          <a:p>
            <a:pPr>
              <a:defRPr sz="1600">
                <a:solidFill>
                  <a:srgbClr val="232F3E"/>
                </a:solidFill>
              </a:defRPr>
            </a:pPr>
            <a:r>
              <a:t>A. Date</a:t>
            </a:r>
          </a:p>
          <a:p>
            <a:pPr>
              <a:defRPr sz="1600">
                <a:solidFill>
                  <a:srgbClr val="232F3E"/>
                </a:solidFill>
              </a:defRPr>
            </a:pPr>
            <a:r>
              <a:t>B. String</a:t>
            </a:r>
          </a:p>
          <a:p>
            <a:pPr>
              <a:defRPr sz="1600">
                <a:solidFill>
                  <a:srgbClr val="232F3E"/>
                </a:solidFill>
              </a:defRPr>
            </a:pPr>
            <a:r>
              <a:t>C. Number</a:t>
            </a:r>
          </a:p>
          <a:p>
            <a:pPr>
              <a:defRPr sz="1600">
                <a:solidFill>
                  <a:srgbClr val="232F3E"/>
                </a:solidFill>
              </a:defRPr>
            </a:pPr>
            <a:r>
              <a:t>D. Boolean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31</a:t>
            </a:r>
          </a:p>
        </p:txBody>
      </p:sp>
      <p:sp>
        <p:nvSpPr>
          <p:cNvPr id="3" name="Content Placeholder 2"/>
          <p:cNvSpPr>
            <a:spLocks noGrp="1"/>
          </p:cNvSpPr>
          <p:nvPr>
            <p:ph idx="1"/>
          </p:nvPr>
        </p:nvSpPr>
        <p:spPr/>
        <p:txBody>
          <a:bodyPr/>
          <a:lstStyle/>
          <a:p>
            <a:pPr>
              <a:defRPr sz="1600">
                <a:solidFill>
                  <a:srgbClr val="232F3E"/>
                </a:solidFill>
              </a:defRPr>
            </a:pPr>
            <a:r>
              <a:t>Correct Answer: A</a:t>
            </a:r>
          </a:p>
          <a:p>
            <a:pPr>
              <a:defRPr sz="1600">
                <a:solidFill>
                  <a:srgbClr val="232F3E"/>
                </a:solidFill>
              </a:defRPr>
            </a:pPr>
            <a:r>
              <a:t>DynamoDB has no native date type. Dates are stored as strings or numbers. This requires careful formatting. Sorting dates needs planning. Understanding types avoids bugs.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32</a:t>
            </a:r>
          </a:p>
        </p:txBody>
      </p:sp>
      <p:sp>
        <p:nvSpPr>
          <p:cNvPr id="3" name="Content Placeholder 2"/>
          <p:cNvSpPr>
            <a:spLocks noGrp="1"/>
          </p:cNvSpPr>
          <p:nvPr>
            <p:ph idx="1"/>
          </p:nvPr>
        </p:nvSpPr>
        <p:spPr/>
        <p:txBody>
          <a:bodyPr/>
          <a:lstStyle/>
          <a:p>
            <a:pPr>
              <a:defRPr sz="1600">
                <a:solidFill>
                  <a:srgbClr val="232F3E"/>
                </a:solidFill>
              </a:defRPr>
            </a:pPr>
            <a:r>
              <a:t>What is a hot partition?</a:t>
            </a:r>
          </a:p>
          <a:p>
            <a:pPr>
              <a:defRPr sz="1600">
                <a:solidFill>
                  <a:srgbClr val="232F3E"/>
                </a:solidFill>
              </a:defRPr>
            </a:pPr>
            <a:r>
              <a:t>A. Cached partition</a:t>
            </a:r>
          </a:p>
          <a:p>
            <a:pPr>
              <a:defRPr sz="1600">
                <a:solidFill>
                  <a:srgbClr val="232F3E"/>
                </a:solidFill>
              </a:defRPr>
            </a:pPr>
            <a:r>
              <a:t>B. Encrypted partition</a:t>
            </a:r>
          </a:p>
          <a:p>
            <a:pPr>
              <a:defRPr sz="1600">
                <a:solidFill>
                  <a:srgbClr val="232F3E"/>
                </a:solidFill>
              </a:defRPr>
            </a:pPr>
            <a:r>
              <a:t>C. Overloaded partition</a:t>
            </a:r>
          </a:p>
          <a:p>
            <a:pPr>
              <a:defRPr sz="1600">
                <a:solidFill>
                  <a:srgbClr val="232F3E"/>
                </a:solidFill>
              </a:defRPr>
            </a:pPr>
            <a:r>
              <a:t>D. Deleted partition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32</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A hot partition receives too much traffic. This limits throughput. DynamoDB throttles requests. Even large tables can be affected. Good key design prevents this.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33</a:t>
            </a:r>
          </a:p>
        </p:txBody>
      </p:sp>
      <p:sp>
        <p:nvSpPr>
          <p:cNvPr id="3" name="Content Placeholder 2"/>
          <p:cNvSpPr>
            <a:spLocks noGrp="1"/>
          </p:cNvSpPr>
          <p:nvPr>
            <p:ph idx="1"/>
          </p:nvPr>
        </p:nvSpPr>
        <p:spPr/>
        <p:txBody>
          <a:bodyPr/>
          <a:lstStyle/>
          <a:p>
            <a:pPr>
              <a:defRPr sz="1600">
                <a:solidFill>
                  <a:srgbClr val="232F3E"/>
                </a:solidFill>
              </a:defRPr>
            </a:pPr>
            <a:r>
              <a:t>How can hot partitions be avoided?</a:t>
            </a:r>
          </a:p>
          <a:p>
            <a:pPr>
              <a:defRPr sz="1600">
                <a:solidFill>
                  <a:srgbClr val="232F3E"/>
                </a:solidFill>
              </a:defRPr>
            </a:pPr>
            <a:r>
              <a:t>A. Sequential keys</a:t>
            </a:r>
          </a:p>
          <a:p>
            <a:pPr>
              <a:defRPr sz="1600">
                <a:solidFill>
                  <a:srgbClr val="232F3E"/>
                </a:solidFill>
              </a:defRPr>
            </a:pPr>
            <a:r>
              <a:t>B. Random keys</a:t>
            </a:r>
          </a:p>
          <a:p>
            <a:pPr>
              <a:defRPr sz="1600">
                <a:solidFill>
                  <a:srgbClr val="232F3E"/>
                </a:solidFill>
              </a:defRPr>
            </a:pPr>
            <a:r>
              <a:t>C. Large items</a:t>
            </a:r>
          </a:p>
          <a:p>
            <a:pPr>
              <a:defRPr sz="1600">
                <a:solidFill>
                  <a:srgbClr val="232F3E"/>
                </a:solidFill>
              </a:defRPr>
            </a:pPr>
            <a:r>
              <a:t>D. Scans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33</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Randomized keys distribute traffic evenly. Sequential keys concentrate traffic. Even distribution improves performance. This prevents throttling. Key design is critical.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34</a:t>
            </a:r>
          </a:p>
        </p:txBody>
      </p:sp>
      <p:sp>
        <p:nvSpPr>
          <p:cNvPr id="3" name="Content Placeholder 2"/>
          <p:cNvSpPr>
            <a:spLocks noGrp="1"/>
          </p:cNvSpPr>
          <p:nvPr>
            <p:ph idx="1"/>
          </p:nvPr>
        </p:nvSpPr>
        <p:spPr/>
        <p:txBody>
          <a:bodyPr/>
          <a:lstStyle/>
          <a:p>
            <a:pPr>
              <a:defRPr sz="1600">
                <a:solidFill>
                  <a:srgbClr val="232F3E"/>
                </a:solidFill>
              </a:defRPr>
            </a:pPr>
            <a:r>
              <a:t>Which tool monitors DynamoDB performance?</a:t>
            </a:r>
          </a:p>
          <a:p>
            <a:pPr>
              <a:defRPr sz="1600">
                <a:solidFill>
                  <a:srgbClr val="232F3E"/>
                </a:solidFill>
              </a:defRPr>
            </a:pPr>
            <a:r>
              <a:t>A. Inspector</a:t>
            </a:r>
          </a:p>
          <a:p>
            <a:pPr>
              <a:defRPr sz="1600">
                <a:solidFill>
                  <a:srgbClr val="232F3E"/>
                </a:solidFill>
              </a:defRPr>
            </a:pPr>
            <a:r>
              <a:t>B. CloudWatch</a:t>
            </a:r>
          </a:p>
          <a:p>
            <a:pPr>
              <a:defRPr sz="1600">
                <a:solidFill>
                  <a:srgbClr val="232F3E"/>
                </a:solidFill>
              </a:defRPr>
            </a:pPr>
            <a:r>
              <a:t>C. Shield</a:t>
            </a:r>
          </a:p>
          <a:p>
            <a:pPr>
              <a:defRPr sz="1600">
                <a:solidFill>
                  <a:srgbClr val="232F3E"/>
                </a:solidFill>
              </a:defRPr>
            </a:pPr>
            <a:r>
              <a:t>D. Config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34</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CloudWatch monitors DynamoDB metrics. It tracks capacity usage. Alarms can be configured. Monitoring prevents outages. It is essential for production systems.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35</a:t>
            </a:r>
          </a:p>
        </p:txBody>
      </p:sp>
      <p:sp>
        <p:nvSpPr>
          <p:cNvPr id="3" name="Content Placeholder 2"/>
          <p:cNvSpPr>
            <a:spLocks noGrp="1"/>
          </p:cNvSpPr>
          <p:nvPr>
            <p:ph idx="1"/>
          </p:nvPr>
        </p:nvSpPr>
        <p:spPr/>
        <p:txBody>
          <a:bodyPr/>
          <a:lstStyle/>
          <a:p>
            <a:pPr>
              <a:defRPr sz="1600">
                <a:solidFill>
                  <a:srgbClr val="232F3E"/>
                </a:solidFill>
              </a:defRPr>
            </a:pPr>
            <a:r>
              <a:t>What feature enables global replication?</a:t>
            </a:r>
          </a:p>
          <a:p>
            <a:pPr>
              <a:defRPr sz="1600">
                <a:solidFill>
                  <a:srgbClr val="232F3E"/>
                </a:solidFill>
              </a:defRPr>
            </a:pPr>
            <a:r>
              <a:t>A. Streams</a:t>
            </a:r>
          </a:p>
          <a:p>
            <a:pPr>
              <a:defRPr sz="1600">
                <a:solidFill>
                  <a:srgbClr val="232F3E"/>
                </a:solidFill>
              </a:defRPr>
            </a:pPr>
            <a:r>
              <a:t>B. Backups</a:t>
            </a:r>
          </a:p>
          <a:p>
            <a:pPr>
              <a:defRPr sz="1600">
                <a:solidFill>
                  <a:srgbClr val="232F3E"/>
                </a:solidFill>
              </a:defRPr>
            </a:pPr>
            <a:r>
              <a:t>C. Global Tables</a:t>
            </a:r>
          </a:p>
          <a:p>
            <a:pPr>
              <a:defRPr sz="1600">
                <a:solidFill>
                  <a:srgbClr val="232F3E"/>
                </a:solidFill>
              </a:defRPr>
            </a:pPr>
            <a:r>
              <a:t>D. DAX</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35</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Global Tables replicate data globally. They support multi-region apps. Replication is automatic. Latency is reduced for users. High availability is improved.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36</a:t>
            </a:r>
          </a:p>
        </p:txBody>
      </p:sp>
      <p:sp>
        <p:nvSpPr>
          <p:cNvPr id="3" name="Content Placeholder 2"/>
          <p:cNvSpPr>
            <a:spLocks noGrp="1"/>
          </p:cNvSpPr>
          <p:nvPr>
            <p:ph idx="1"/>
          </p:nvPr>
        </p:nvSpPr>
        <p:spPr/>
        <p:txBody>
          <a:bodyPr/>
          <a:lstStyle/>
          <a:p>
            <a:pPr>
              <a:defRPr sz="1600">
                <a:solidFill>
                  <a:srgbClr val="232F3E"/>
                </a:solidFill>
              </a:defRPr>
            </a:pPr>
            <a:r>
              <a:t>How are Global Table conflicts resolved?</a:t>
            </a:r>
          </a:p>
          <a:p>
            <a:pPr>
              <a:defRPr sz="1600">
                <a:solidFill>
                  <a:srgbClr val="232F3E"/>
                </a:solidFill>
              </a:defRPr>
            </a:pPr>
            <a:r>
              <a:t>A. Manual</a:t>
            </a:r>
          </a:p>
          <a:p>
            <a:pPr>
              <a:defRPr sz="1600">
                <a:solidFill>
                  <a:srgbClr val="232F3E"/>
                </a:solidFill>
              </a:defRPr>
            </a:pPr>
            <a:r>
              <a:t>B. Locks</a:t>
            </a:r>
          </a:p>
          <a:p>
            <a:pPr>
              <a:defRPr sz="1600">
                <a:solidFill>
                  <a:srgbClr val="232F3E"/>
                </a:solidFill>
              </a:defRPr>
            </a:pPr>
            <a:r>
              <a:t>C. Last writer wins</a:t>
            </a:r>
          </a:p>
          <a:p>
            <a:pPr>
              <a:defRPr sz="1600">
                <a:solidFill>
                  <a:srgbClr val="232F3E"/>
                </a:solidFill>
              </a:defRPr>
            </a:pPr>
            <a:r>
              <a:t>D. Voting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36</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Global Tables use last writer wins. Timestamps determine conflicts. This is automatic. Developers must design carefully. Conflict resolution is simple but important.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37</a:t>
            </a:r>
          </a:p>
        </p:txBody>
      </p:sp>
      <p:sp>
        <p:nvSpPr>
          <p:cNvPr id="3" name="Content Placeholder 2"/>
          <p:cNvSpPr>
            <a:spLocks noGrp="1"/>
          </p:cNvSpPr>
          <p:nvPr>
            <p:ph idx="1"/>
          </p:nvPr>
        </p:nvSpPr>
        <p:spPr/>
        <p:txBody>
          <a:bodyPr/>
          <a:lstStyle/>
          <a:p>
            <a:pPr>
              <a:defRPr sz="1600">
                <a:solidFill>
                  <a:srgbClr val="232F3E"/>
                </a:solidFill>
              </a:defRPr>
            </a:pPr>
            <a:r>
              <a:t>How is data encrypted at rest?</a:t>
            </a:r>
          </a:p>
          <a:p>
            <a:pPr>
              <a:defRPr sz="1600">
                <a:solidFill>
                  <a:srgbClr val="232F3E"/>
                </a:solidFill>
              </a:defRPr>
            </a:pPr>
            <a:r>
              <a:t>A. IAM</a:t>
            </a:r>
          </a:p>
          <a:p>
            <a:pPr>
              <a:defRPr sz="1600">
                <a:solidFill>
                  <a:srgbClr val="232F3E"/>
                </a:solidFill>
              </a:defRPr>
            </a:pPr>
            <a:r>
              <a:t>B. SSL</a:t>
            </a:r>
          </a:p>
          <a:p>
            <a:pPr>
              <a:defRPr sz="1600">
                <a:solidFill>
                  <a:srgbClr val="232F3E"/>
                </a:solidFill>
              </a:defRPr>
            </a:pPr>
            <a:r>
              <a:t>C. AWS KMS</a:t>
            </a:r>
          </a:p>
          <a:p>
            <a:pPr>
              <a:defRPr sz="1600">
                <a:solidFill>
                  <a:srgbClr val="232F3E"/>
                </a:solidFill>
              </a:defRPr>
            </a:pPr>
            <a:r>
              <a:t>D. CloudWatch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37</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encrypts data using AWS KMS. Encryption is automatic. Data is protected at rest. Keys are managed securely. Compliance requirements are supported.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38</a:t>
            </a:r>
          </a:p>
        </p:txBody>
      </p:sp>
      <p:sp>
        <p:nvSpPr>
          <p:cNvPr id="3" name="Content Placeholder 2"/>
          <p:cNvSpPr>
            <a:spLocks noGrp="1"/>
          </p:cNvSpPr>
          <p:nvPr>
            <p:ph idx="1"/>
          </p:nvPr>
        </p:nvSpPr>
        <p:spPr/>
        <p:txBody>
          <a:bodyPr/>
          <a:lstStyle/>
          <a:p>
            <a:pPr>
              <a:defRPr sz="1600">
                <a:solidFill>
                  <a:srgbClr val="232F3E"/>
                </a:solidFill>
              </a:defRPr>
            </a:pPr>
            <a:r>
              <a:t>Which operation writes multiple items?</a:t>
            </a:r>
          </a:p>
          <a:p>
            <a:pPr>
              <a:defRPr sz="1600">
                <a:solidFill>
                  <a:srgbClr val="232F3E"/>
                </a:solidFill>
              </a:defRPr>
            </a:pPr>
            <a:r>
              <a:t>A. PutItem</a:t>
            </a:r>
          </a:p>
          <a:p>
            <a:pPr>
              <a:defRPr sz="1600">
                <a:solidFill>
                  <a:srgbClr val="232F3E"/>
                </a:solidFill>
              </a:defRPr>
            </a:pPr>
            <a:r>
              <a:t>B. UpdateItem</a:t>
            </a:r>
          </a:p>
          <a:p>
            <a:pPr>
              <a:defRPr sz="1600">
                <a:solidFill>
                  <a:srgbClr val="232F3E"/>
                </a:solidFill>
              </a:defRPr>
            </a:pPr>
            <a:r>
              <a:t>C. BatchWriteItem</a:t>
            </a:r>
          </a:p>
          <a:p>
            <a:pPr>
              <a:defRPr sz="1600">
                <a:solidFill>
                  <a:srgbClr val="232F3E"/>
                </a:solidFill>
              </a:defRPr>
            </a:pPr>
            <a:r>
              <a:t>D. GetItem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38</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BatchWriteItem writes multiple items at once. It improves efficiency. Writes are not transactional. Some items may fail. Retries may be needed.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39</a:t>
            </a:r>
          </a:p>
        </p:txBody>
      </p:sp>
      <p:sp>
        <p:nvSpPr>
          <p:cNvPr id="3" name="Content Placeholder 2"/>
          <p:cNvSpPr>
            <a:spLocks noGrp="1"/>
          </p:cNvSpPr>
          <p:nvPr>
            <p:ph idx="1"/>
          </p:nvPr>
        </p:nvSpPr>
        <p:spPr/>
        <p:txBody>
          <a:bodyPr/>
          <a:lstStyle/>
          <a:p>
            <a:pPr>
              <a:defRPr sz="1600">
                <a:solidFill>
                  <a:srgbClr val="232F3E"/>
                </a:solidFill>
              </a:defRPr>
            </a:pPr>
            <a:r>
              <a:t>Where should large files be stored?</a:t>
            </a:r>
          </a:p>
          <a:p>
            <a:pPr>
              <a:defRPr sz="1600">
                <a:solidFill>
                  <a:srgbClr val="232F3E"/>
                </a:solidFill>
              </a:defRPr>
            </a:pPr>
            <a:r>
              <a:t>A. DynamoDB</a:t>
            </a:r>
          </a:p>
          <a:p>
            <a:pPr>
              <a:defRPr sz="1600">
                <a:solidFill>
                  <a:srgbClr val="232F3E"/>
                </a:solidFill>
              </a:defRPr>
            </a:pPr>
            <a:r>
              <a:t>B. Streams</a:t>
            </a:r>
          </a:p>
          <a:p>
            <a:pPr>
              <a:defRPr sz="1600">
                <a:solidFill>
                  <a:srgbClr val="232F3E"/>
                </a:solidFill>
              </a:defRPr>
            </a:pPr>
            <a:r>
              <a:t>C. Amazon S3</a:t>
            </a:r>
          </a:p>
          <a:p>
            <a:pPr>
              <a:defRPr sz="1600">
                <a:solidFill>
                  <a:srgbClr val="232F3E"/>
                </a:solidFill>
              </a:defRPr>
            </a:pPr>
            <a:r>
              <a:t>D. Amazon RDS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39</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S3 is designed for large objects. DynamoDB has size limits. Using S3 reduces cost. References can be stored in DynamoDB. This is best practice.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40</a:t>
            </a:r>
          </a:p>
        </p:txBody>
      </p:sp>
      <p:sp>
        <p:nvSpPr>
          <p:cNvPr id="3" name="Content Placeholder 2"/>
          <p:cNvSpPr>
            <a:spLocks noGrp="1"/>
          </p:cNvSpPr>
          <p:nvPr>
            <p:ph idx="1"/>
          </p:nvPr>
        </p:nvSpPr>
        <p:spPr/>
        <p:txBody>
          <a:bodyPr/>
          <a:lstStyle/>
          <a:p>
            <a:pPr>
              <a:defRPr sz="1600">
                <a:solidFill>
                  <a:srgbClr val="232F3E"/>
                </a:solidFill>
              </a:defRPr>
            </a:pPr>
            <a:r>
              <a:t>Which NoSQL type handles relationships best?</a:t>
            </a:r>
          </a:p>
          <a:p>
            <a:pPr>
              <a:defRPr sz="1600">
                <a:solidFill>
                  <a:srgbClr val="232F3E"/>
                </a:solidFill>
              </a:defRPr>
            </a:pPr>
            <a:r>
              <a:t>A. Key-value</a:t>
            </a:r>
          </a:p>
          <a:p>
            <a:pPr>
              <a:defRPr sz="1600">
                <a:solidFill>
                  <a:srgbClr val="232F3E"/>
                </a:solidFill>
              </a:defRPr>
            </a:pPr>
            <a:r>
              <a:t>B. Document</a:t>
            </a:r>
          </a:p>
          <a:p>
            <a:pPr>
              <a:defRPr sz="1600">
                <a:solidFill>
                  <a:srgbClr val="232F3E"/>
                </a:solidFill>
              </a:defRPr>
            </a:pPr>
            <a:r>
              <a:t>C. Graph</a:t>
            </a:r>
          </a:p>
          <a:p>
            <a:pPr>
              <a:defRPr sz="1600">
                <a:solidFill>
                  <a:srgbClr val="232F3E"/>
                </a:solidFill>
              </a:defRPr>
            </a:pPr>
            <a:r>
              <a:t>D. Column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40</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Graph databases model relationships naturally. They use nodes and edges. Traversals are efficient. DynamoDB is not graph-based. Use graphs for relationship-heavy data.</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41</a:t>
            </a:r>
          </a:p>
        </p:txBody>
      </p:sp>
      <p:sp>
        <p:nvSpPr>
          <p:cNvPr id="3" name="Content Placeholder 2"/>
          <p:cNvSpPr>
            <a:spLocks noGrp="1"/>
          </p:cNvSpPr>
          <p:nvPr>
            <p:ph idx="1"/>
          </p:nvPr>
        </p:nvSpPr>
        <p:spPr/>
        <p:txBody>
          <a:bodyPr/>
          <a:lstStyle/>
          <a:p>
            <a:pPr>
              <a:defRPr sz="1600">
                <a:solidFill>
                  <a:srgbClr val="232F3E"/>
                </a:solidFill>
              </a:defRPr>
            </a:pPr>
            <a:r>
              <a:t>What does CAP stand for?</a:t>
            </a:r>
          </a:p>
          <a:p>
            <a:pPr>
              <a:defRPr sz="1600">
                <a:solidFill>
                  <a:srgbClr val="232F3E"/>
                </a:solidFill>
              </a:defRPr>
            </a:pPr>
            <a:r>
              <a:t>A. Consistency Availability Partition tolerance</a:t>
            </a:r>
          </a:p>
          <a:p>
            <a:pPr>
              <a:defRPr sz="1600">
                <a:solidFill>
                  <a:srgbClr val="232F3E"/>
                </a:solidFill>
              </a:defRPr>
            </a:pPr>
            <a:r>
              <a:t>B. Capacity Access Performance</a:t>
            </a:r>
          </a:p>
          <a:p>
            <a:pPr>
              <a:defRPr sz="1600">
                <a:solidFill>
                  <a:srgbClr val="232F3E"/>
                </a:solidFill>
              </a:defRPr>
            </a:pPr>
            <a:r>
              <a:t>C. Cache API Persistence</a:t>
            </a:r>
          </a:p>
          <a:p>
            <a:pPr>
              <a:defRPr sz="1600">
                <a:solidFill>
                  <a:srgbClr val="232F3E"/>
                </a:solidFill>
              </a:defRPr>
            </a:pPr>
            <a:r>
              <a:t>D. Compute Analytics Processing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41</a:t>
            </a:r>
          </a:p>
        </p:txBody>
      </p:sp>
      <p:sp>
        <p:nvSpPr>
          <p:cNvPr id="3" name="Content Placeholder 2"/>
          <p:cNvSpPr>
            <a:spLocks noGrp="1"/>
          </p:cNvSpPr>
          <p:nvPr>
            <p:ph idx="1"/>
          </p:nvPr>
        </p:nvSpPr>
        <p:spPr/>
        <p:txBody>
          <a:bodyPr/>
          <a:lstStyle/>
          <a:p>
            <a:pPr>
              <a:defRPr sz="1600">
                <a:solidFill>
                  <a:srgbClr val="232F3E"/>
                </a:solidFill>
              </a:defRPr>
            </a:pPr>
            <a:r>
              <a:t>Correct Answer: A</a:t>
            </a:r>
          </a:p>
          <a:p>
            <a:pPr>
              <a:defRPr sz="1600">
                <a:solidFill>
                  <a:srgbClr val="232F3E"/>
                </a:solidFill>
              </a:defRPr>
            </a:pPr>
            <a:r>
              <a:t>CAP describes distributed system tradeoffs. Consistency means same data everywhere. Availability means always responding. Partition tolerance handles network failures. Systems choose two.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42</a:t>
            </a:r>
          </a:p>
        </p:txBody>
      </p:sp>
      <p:sp>
        <p:nvSpPr>
          <p:cNvPr id="3" name="Content Placeholder 2"/>
          <p:cNvSpPr>
            <a:spLocks noGrp="1"/>
          </p:cNvSpPr>
          <p:nvPr>
            <p:ph idx="1"/>
          </p:nvPr>
        </p:nvSpPr>
        <p:spPr/>
        <p:txBody>
          <a:bodyPr/>
          <a:lstStyle/>
          <a:p>
            <a:pPr>
              <a:defRPr sz="1600">
                <a:solidFill>
                  <a:srgbClr val="232F3E"/>
                </a:solidFill>
              </a:defRPr>
            </a:pPr>
            <a:r>
              <a:t>Which CAP properties does DynamoDB favor?</a:t>
            </a:r>
          </a:p>
          <a:p>
            <a:pPr>
              <a:defRPr sz="1600">
                <a:solidFill>
                  <a:srgbClr val="232F3E"/>
                </a:solidFill>
              </a:defRPr>
            </a:pPr>
            <a:r>
              <a:t>A. C and A</a:t>
            </a:r>
          </a:p>
          <a:p>
            <a:pPr>
              <a:defRPr sz="1600">
                <a:solidFill>
                  <a:srgbClr val="232F3E"/>
                </a:solidFill>
              </a:defRPr>
            </a:pPr>
            <a:r>
              <a:t>B. A and P</a:t>
            </a:r>
          </a:p>
          <a:p>
            <a:pPr>
              <a:defRPr sz="1600">
                <a:solidFill>
                  <a:srgbClr val="232F3E"/>
                </a:solidFill>
              </a:defRPr>
            </a:pPr>
            <a:r>
              <a:t>C. C and P</a:t>
            </a:r>
          </a:p>
          <a:p>
            <a:pPr>
              <a:defRPr sz="1600">
                <a:solidFill>
                  <a:srgbClr val="232F3E"/>
                </a:solidFill>
              </a:defRPr>
            </a:pPr>
            <a:r>
              <a:t>D. All three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42</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DynamoDB favors availability and partition tolerance. This ensures reliability. Eventual consistency is default. Strong consistency is optional. This design supports scale.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43</a:t>
            </a:r>
          </a:p>
        </p:txBody>
      </p:sp>
      <p:sp>
        <p:nvSpPr>
          <p:cNvPr id="3" name="Content Placeholder 2"/>
          <p:cNvSpPr>
            <a:spLocks noGrp="1"/>
          </p:cNvSpPr>
          <p:nvPr>
            <p:ph idx="1"/>
          </p:nvPr>
        </p:nvSpPr>
        <p:spPr/>
        <p:txBody>
          <a:bodyPr/>
          <a:lstStyle/>
          <a:p>
            <a:pPr>
              <a:defRPr sz="1600">
                <a:solidFill>
                  <a:srgbClr val="232F3E"/>
                </a:solidFill>
              </a:defRPr>
            </a:pPr>
            <a:r>
              <a:t>Does DynamoDB support strong consistency?</a:t>
            </a:r>
          </a:p>
          <a:p>
            <a:pPr>
              <a:defRPr sz="1600">
                <a:solidFill>
                  <a:srgbClr val="232F3E"/>
                </a:solidFill>
              </a:defRPr>
            </a:pPr>
            <a:r>
              <a:t>A. Never</a:t>
            </a:r>
          </a:p>
          <a:p>
            <a:pPr>
              <a:defRPr sz="1600">
                <a:solidFill>
                  <a:srgbClr val="232F3E"/>
                </a:solidFill>
              </a:defRPr>
            </a:pPr>
            <a:r>
              <a:t>B. Only writes</a:t>
            </a:r>
          </a:p>
          <a:p>
            <a:pPr>
              <a:defRPr sz="1600">
                <a:solidFill>
                  <a:srgbClr val="232F3E"/>
                </a:solidFill>
              </a:defRPr>
            </a:pPr>
            <a:r>
              <a:t>C. As an option</a:t>
            </a:r>
          </a:p>
          <a:p>
            <a:pPr>
              <a:defRPr sz="1600">
                <a:solidFill>
                  <a:srgbClr val="232F3E"/>
                </a:solidFill>
              </a:defRPr>
            </a:pPr>
            <a:r>
              <a:t>D. Globally only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43</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supports strong consistency optionally. It is chosen per read. It costs more capacity. It guarantees latest data. Use when required.</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44</a:t>
            </a:r>
          </a:p>
        </p:txBody>
      </p:sp>
      <p:sp>
        <p:nvSpPr>
          <p:cNvPr id="3" name="Content Placeholder 2"/>
          <p:cNvSpPr>
            <a:spLocks noGrp="1"/>
          </p:cNvSpPr>
          <p:nvPr>
            <p:ph idx="1"/>
          </p:nvPr>
        </p:nvSpPr>
        <p:spPr/>
        <p:txBody>
          <a:bodyPr/>
          <a:lstStyle/>
          <a:p>
            <a:pPr>
              <a:defRPr sz="1600">
                <a:solidFill>
                  <a:srgbClr val="232F3E"/>
                </a:solidFill>
              </a:defRPr>
            </a:pPr>
            <a:r>
              <a:t>What does single-table design mean?</a:t>
            </a:r>
          </a:p>
          <a:p>
            <a:pPr>
              <a:defRPr sz="1600">
                <a:solidFill>
                  <a:srgbClr val="232F3E"/>
                </a:solidFill>
              </a:defRPr>
            </a:pPr>
            <a:r>
              <a:t>A. One table per app</a:t>
            </a:r>
          </a:p>
          <a:p>
            <a:pPr>
              <a:defRPr sz="1600">
                <a:solidFill>
                  <a:srgbClr val="232F3E"/>
                </a:solidFill>
              </a:defRPr>
            </a:pPr>
            <a:r>
              <a:t>B. Multiple entities in one table</a:t>
            </a:r>
          </a:p>
          <a:p>
            <a:pPr>
              <a:defRPr sz="1600">
                <a:solidFill>
                  <a:srgbClr val="232F3E"/>
                </a:solidFill>
              </a:defRPr>
            </a:pPr>
            <a:r>
              <a:t>C. No indexes</a:t>
            </a:r>
          </a:p>
          <a:p>
            <a:pPr>
              <a:defRPr sz="1600">
                <a:solidFill>
                  <a:srgbClr val="232F3E"/>
                </a:solidFill>
              </a:defRPr>
            </a:pPr>
            <a:r>
              <a:t>D. No keys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44</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Single-table design stores many entities together. Access patterns drive design. This reduces joins. Performance improves. It is a DynamoDB best practice.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45</a:t>
            </a:r>
          </a:p>
        </p:txBody>
      </p:sp>
      <p:sp>
        <p:nvSpPr>
          <p:cNvPr id="3" name="Content Placeholder 2"/>
          <p:cNvSpPr>
            <a:spLocks noGrp="1"/>
          </p:cNvSpPr>
          <p:nvPr>
            <p:ph idx="1"/>
          </p:nvPr>
        </p:nvSpPr>
        <p:spPr/>
        <p:txBody>
          <a:bodyPr/>
          <a:lstStyle/>
          <a:p>
            <a:pPr>
              <a:defRPr sz="1600">
                <a:solidFill>
                  <a:srgbClr val="232F3E"/>
                </a:solidFill>
              </a:defRPr>
            </a:pPr>
            <a:r>
              <a:t>Which operation requires a partition key?</a:t>
            </a:r>
          </a:p>
          <a:p>
            <a:pPr>
              <a:defRPr sz="1600">
                <a:solidFill>
                  <a:srgbClr val="232F3E"/>
                </a:solidFill>
              </a:defRPr>
            </a:pPr>
            <a:r>
              <a:t>A. Scan</a:t>
            </a:r>
          </a:p>
          <a:p>
            <a:pPr>
              <a:defRPr sz="1600">
                <a:solidFill>
                  <a:srgbClr val="232F3E"/>
                </a:solidFill>
              </a:defRPr>
            </a:pPr>
            <a:r>
              <a:t>B. Query</a:t>
            </a:r>
          </a:p>
          <a:p>
            <a:pPr>
              <a:defRPr sz="1600">
                <a:solidFill>
                  <a:srgbClr val="232F3E"/>
                </a:solidFill>
              </a:defRPr>
            </a:pPr>
            <a:r>
              <a:t>C. Backup</a:t>
            </a:r>
          </a:p>
          <a:p>
            <a:pPr>
              <a:defRPr sz="1600">
                <a:solidFill>
                  <a:srgbClr val="232F3E"/>
                </a:solidFill>
              </a:defRPr>
            </a:pPr>
            <a:r>
              <a:t>D. Stream</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45</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Query requires a partition key. It efficiently retrieves items. Scan does not require keys. Queries are preferred. They consume less capacity.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46</a:t>
            </a:r>
          </a:p>
        </p:txBody>
      </p:sp>
      <p:sp>
        <p:nvSpPr>
          <p:cNvPr id="3" name="Content Placeholder 2"/>
          <p:cNvSpPr>
            <a:spLocks noGrp="1"/>
          </p:cNvSpPr>
          <p:nvPr>
            <p:ph idx="1"/>
          </p:nvPr>
        </p:nvSpPr>
        <p:spPr/>
        <p:txBody>
          <a:bodyPr/>
          <a:lstStyle/>
          <a:p>
            <a:pPr>
              <a:defRPr sz="1600">
                <a:solidFill>
                  <a:srgbClr val="232F3E"/>
                </a:solidFill>
              </a:defRPr>
            </a:pPr>
            <a:r>
              <a:t>DynamoDB is best for which workload?</a:t>
            </a:r>
          </a:p>
          <a:p>
            <a:pPr>
              <a:defRPr sz="1600">
                <a:solidFill>
                  <a:srgbClr val="232F3E"/>
                </a:solidFill>
              </a:defRPr>
            </a:pPr>
            <a:r>
              <a:t>A. Analytics</a:t>
            </a:r>
          </a:p>
          <a:p>
            <a:pPr>
              <a:defRPr sz="1600">
                <a:solidFill>
                  <a:srgbClr val="232F3E"/>
                </a:solidFill>
              </a:defRPr>
            </a:pPr>
            <a:r>
              <a:t>B. Reporting</a:t>
            </a:r>
          </a:p>
          <a:p>
            <a:pPr>
              <a:defRPr sz="1600">
                <a:solidFill>
                  <a:srgbClr val="232F3E"/>
                </a:solidFill>
              </a:defRPr>
            </a:pPr>
            <a:r>
              <a:t>C. Real-time apps</a:t>
            </a:r>
          </a:p>
          <a:p>
            <a:pPr>
              <a:defRPr sz="1600">
                <a:solidFill>
                  <a:srgbClr val="232F3E"/>
                </a:solidFill>
              </a:defRPr>
            </a:pPr>
            <a:r>
              <a:t>D. Spreadsheets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46</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DynamoDB is ideal for real-time apps. It provides low latency. High throughput is supported. Scaling is automatic. Analytics workloads fit other services.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47</a:t>
            </a:r>
          </a:p>
        </p:txBody>
      </p:sp>
      <p:sp>
        <p:nvSpPr>
          <p:cNvPr id="3" name="Content Placeholder 2"/>
          <p:cNvSpPr>
            <a:spLocks noGrp="1"/>
          </p:cNvSpPr>
          <p:nvPr>
            <p:ph idx="1"/>
          </p:nvPr>
        </p:nvSpPr>
        <p:spPr/>
        <p:txBody>
          <a:bodyPr/>
          <a:lstStyle/>
          <a:p>
            <a:pPr>
              <a:defRPr sz="1600">
                <a:solidFill>
                  <a:srgbClr val="232F3E"/>
                </a:solidFill>
              </a:defRPr>
            </a:pPr>
            <a:r>
              <a:t>Which feature helps delete old data automatically?</a:t>
            </a:r>
          </a:p>
          <a:p>
            <a:pPr>
              <a:defRPr sz="1600">
                <a:solidFill>
                  <a:srgbClr val="232F3E"/>
                </a:solidFill>
              </a:defRPr>
            </a:pPr>
            <a:r>
              <a:t>A. Streams</a:t>
            </a:r>
          </a:p>
          <a:p>
            <a:pPr>
              <a:defRPr sz="1600">
                <a:solidFill>
                  <a:srgbClr val="232F3E"/>
                </a:solidFill>
              </a:defRPr>
            </a:pPr>
            <a:r>
              <a:t>B. TTL</a:t>
            </a:r>
          </a:p>
          <a:p>
            <a:pPr>
              <a:defRPr sz="1600">
                <a:solidFill>
                  <a:srgbClr val="232F3E"/>
                </a:solidFill>
              </a:defRPr>
            </a:pPr>
            <a:r>
              <a:t>C. DAX</a:t>
            </a:r>
          </a:p>
          <a:p>
            <a:pPr>
              <a:defRPr sz="1600">
                <a:solidFill>
                  <a:srgbClr val="232F3E"/>
                </a:solidFill>
              </a:defRPr>
            </a:pPr>
            <a:r>
              <a:t>D. Backup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47</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TTL automatically removes expired items. It simplifies cleanup. Storage costs are reduced. Deletions happen asynchronously. TTL is easy to configure.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48</a:t>
            </a:r>
          </a:p>
        </p:txBody>
      </p:sp>
      <p:sp>
        <p:nvSpPr>
          <p:cNvPr id="3" name="Content Placeholder 2"/>
          <p:cNvSpPr>
            <a:spLocks noGrp="1"/>
          </p:cNvSpPr>
          <p:nvPr>
            <p:ph idx="1"/>
          </p:nvPr>
        </p:nvSpPr>
        <p:spPr/>
        <p:txBody>
          <a:bodyPr/>
          <a:lstStyle/>
          <a:p>
            <a:pPr>
              <a:defRPr sz="1600">
                <a:solidFill>
                  <a:srgbClr val="232F3E"/>
                </a:solidFill>
              </a:defRPr>
            </a:pPr>
            <a:r>
              <a:t>Which operation is the fastest read?</a:t>
            </a:r>
          </a:p>
          <a:p>
            <a:pPr>
              <a:defRPr sz="1600">
                <a:solidFill>
                  <a:srgbClr val="232F3E"/>
                </a:solidFill>
              </a:defRPr>
            </a:pPr>
            <a:r>
              <a:t>A. Scan</a:t>
            </a:r>
          </a:p>
          <a:p>
            <a:pPr>
              <a:defRPr sz="1600">
                <a:solidFill>
                  <a:srgbClr val="232F3E"/>
                </a:solidFill>
              </a:defRPr>
            </a:pPr>
            <a:r>
              <a:t>B. Query</a:t>
            </a:r>
          </a:p>
          <a:p>
            <a:pPr>
              <a:defRPr sz="1600">
                <a:solidFill>
                  <a:srgbClr val="232F3E"/>
                </a:solidFill>
              </a:defRPr>
            </a:pPr>
            <a:r>
              <a:t>C. GetItem</a:t>
            </a:r>
          </a:p>
          <a:p>
            <a:pPr>
              <a:defRPr sz="1600">
                <a:solidFill>
                  <a:srgbClr val="232F3E"/>
                </a:solidFill>
              </a:defRPr>
            </a:pPr>
            <a:r>
              <a:t>D. UpdateItem</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48</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GetItem is the fastest read operation. It accesses data by key. No scanning occurs. Capacity usage is minimal. It is highly efficient.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49</a:t>
            </a:r>
          </a:p>
        </p:txBody>
      </p:sp>
      <p:sp>
        <p:nvSpPr>
          <p:cNvPr id="3" name="Content Placeholder 2"/>
          <p:cNvSpPr>
            <a:spLocks noGrp="1"/>
          </p:cNvSpPr>
          <p:nvPr>
            <p:ph idx="1"/>
          </p:nvPr>
        </p:nvSpPr>
        <p:spPr/>
        <p:txBody>
          <a:bodyPr/>
          <a:lstStyle/>
          <a:p>
            <a:pPr>
              <a:defRPr sz="1600">
                <a:solidFill>
                  <a:srgbClr val="232F3E"/>
                </a:solidFill>
              </a:defRPr>
            </a:pPr>
            <a:r>
              <a:t>Why should Scan be avoided?</a:t>
            </a:r>
          </a:p>
          <a:p>
            <a:pPr>
              <a:defRPr sz="1600">
                <a:solidFill>
                  <a:srgbClr val="232F3E"/>
                </a:solidFill>
              </a:defRPr>
            </a:pPr>
            <a:r>
              <a:t>A. It deletes data</a:t>
            </a:r>
          </a:p>
          <a:p>
            <a:pPr>
              <a:defRPr sz="1600">
                <a:solidFill>
                  <a:srgbClr val="232F3E"/>
                </a:solidFill>
              </a:defRPr>
            </a:pPr>
            <a:r>
              <a:t>B. It ignores indexes</a:t>
            </a:r>
          </a:p>
          <a:p>
            <a:pPr>
              <a:defRPr sz="1600">
                <a:solidFill>
                  <a:srgbClr val="232F3E"/>
                </a:solidFill>
              </a:defRPr>
            </a:pPr>
            <a:r>
              <a:t>C. It is slow and expensive</a:t>
            </a:r>
          </a:p>
          <a:p>
            <a:pPr>
              <a:defRPr sz="1600">
                <a:solidFill>
                  <a:srgbClr val="232F3E"/>
                </a:solidFill>
              </a:defRPr>
            </a:pPr>
            <a:r>
              <a:t>D. It requires strong consistency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49</a:t>
            </a:r>
          </a:p>
        </p:txBody>
      </p:sp>
      <p:sp>
        <p:nvSpPr>
          <p:cNvPr id="3" name="Content Placeholder 2"/>
          <p:cNvSpPr>
            <a:spLocks noGrp="1"/>
          </p:cNvSpPr>
          <p:nvPr>
            <p:ph idx="1"/>
          </p:nvPr>
        </p:nvSpPr>
        <p:spPr/>
        <p:txBody>
          <a:bodyPr/>
          <a:lstStyle/>
          <a:p>
            <a:pPr>
              <a:defRPr sz="1600">
                <a:solidFill>
                  <a:srgbClr val="232F3E"/>
                </a:solidFill>
              </a:defRPr>
            </a:pPr>
            <a:r>
              <a:t>Correct Answer: C</a:t>
            </a:r>
          </a:p>
          <a:p>
            <a:pPr>
              <a:defRPr sz="1600">
                <a:solidFill>
                  <a:srgbClr val="232F3E"/>
                </a:solidFill>
              </a:defRPr>
            </a:pPr>
            <a:r>
              <a:t>Scan reads every item in a table. It consumes large capacity. Performance degrades on large tables. Indexes are ignored. Queries are preferred.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3F3"/>
        </a:solidFill>
        <a:effectLst/>
      </p:bgPr>
    </p:bg>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Question 50</a:t>
            </a:r>
          </a:p>
        </p:txBody>
      </p:sp>
      <p:sp>
        <p:nvSpPr>
          <p:cNvPr id="3" name="Content Placeholder 2"/>
          <p:cNvSpPr>
            <a:spLocks noGrp="1"/>
          </p:cNvSpPr>
          <p:nvPr>
            <p:ph idx="1"/>
          </p:nvPr>
        </p:nvSpPr>
        <p:spPr/>
        <p:txBody>
          <a:bodyPr/>
          <a:lstStyle/>
          <a:p>
            <a:pPr>
              <a:defRPr sz="1600">
                <a:solidFill>
                  <a:srgbClr val="232F3E"/>
                </a:solidFill>
              </a:defRPr>
            </a:pPr>
            <a:r>
              <a:t>Which AWS service is often used with DynamoDB for events?</a:t>
            </a:r>
          </a:p>
          <a:p>
            <a:pPr>
              <a:defRPr sz="1600">
                <a:solidFill>
                  <a:srgbClr val="232F3E"/>
                </a:solidFill>
              </a:defRPr>
            </a:pPr>
            <a:r>
              <a:t>A. EC2</a:t>
            </a:r>
          </a:p>
          <a:p>
            <a:pPr>
              <a:defRPr sz="1600">
                <a:solidFill>
                  <a:srgbClr val="232F3E"/>
                </a:solidFill>
              </a:defRPr>
            </a:pPr>
            <a:r>
              <a:t>B. Lambda</a:t>
            </a:r>
          </a:p>
          <a:p>
            <a:pPr>
              <a:defRPr sz="1600">
                <a:solidFill>
                  <a:srgbClr val="232F3E"/>
                </a:solidFill>
              </a:defRPr>
            </a:pPr>
            <a:r>
              <a:t>C. Redshift</a:t>
            </a:r>
          </a:p>
          <a:p>
            <a:pPr>
              <a:defRPr sz="1600">
                <a:solidFill>
                  <a:srgbClr val="232F3E"/>
                </a:solidFill>
              </a:defRPr>
            </a:pPr>
            <a:r>
              <a:t>D. Athena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232F3E"/>
                </a:solidFill>
              </a:defRPr>
            </a:pPr>
            <a:r>
              <a:t>Answer 50</a:t>
            </a:r>
          </a:p>
        </p:txBody>
      </p:sp>
      <p:sp>
        <p:nvSpPr>
          <p:cNvPr id="3" name="Content Placeholder 2"/>
          <p:cNvSpPr>
            <a:spLocks noGrp="1"/>
          </p:cNvSpPr>
          <p:nvPr>
            <p:ph idx="1"/>
          </p:nvPr>
        </p:nvSpPr>
        <p:spPr/>
        <p:txBody>
          <a:bodyPr/>
          <a:lstStyle/>
          <a:p>
            <a:pPr>
              <a:defRPr sz="1600">
                <a:solidFill>
                  <a:srgbClr val="232F3E"/>
                </a:solidFill>
              </a:defRPr>
            </a:pPr>
            <a:r>
              <a:t>Correct Answer: B</a:t>
            </a:r>
          </a:p>
          <a:p>
            <a:pPr>
              <a:defRPr sz="1600">
                <a:solidFill>
                  <a:srgbClr val="232F3E"/>
                </a:solidFill>
              </a:defRPr>
            </a:pPr>
            <a:r>
              <a:t>Lambda integrates seamlessly with DynamoDB. It processes events automatically. No servers are managed. Real-time processing is enabled. This supports event-driven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